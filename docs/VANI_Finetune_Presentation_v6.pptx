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07792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"/>
            <a:ext cx="1036015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0" b="1" i="0">
                <a:solidFill>
                  <a:srgbClr val="FFFFFF"/>
                </a:solidFill>
                <a:latin typeface="Times New Roman"/>
              </a:rPr>
              <a:t>VANI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36192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5CAE9"/>
                </a:solidFill>
                <a:latin typeface="Times New Roman"/>
              </a:rPr>
              <a:t>Voice Analysis &amp; Neural Intelligence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84831"/>
            <a:ext cx="103601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54F"/>
                </a:solidFill>
                <a:latin typeface="Times New Roman"/>
              </a:rPr>
              <a:t>Whisper ASR Fine-Tuning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54680"/>
            <a:ext cx="103601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7E"/>
                </a:solidFill>
                <a:latin typeface="Times New Roman"/>
              </a:rPr>
              <a:t>LoRA Domain Adaptation for 7 Border-Region Languages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84448" y="3685032"/>
            <a:ext cx="50292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767328"/>
            <a:ext cx="103601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6E7A"/>
                </a:solidFill>
                <a:latin typeface="Times New Roman"/>
              </a:rPr>
              <a:t>M.Tech Research Project  ·  IIT Indore  ·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87952"/>
            <a:ext cx="103601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Hardware: NVIDIA RTX 5060 8 GB  ·  Windows 11  ·  CUDA  ·  faster-whisper CT2 int8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28816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237E"/>
                </a:solidFill>
                <a:latin typeface="Times New Roman"/>
              </a:rPr>
              <a:t>7 Languages  ·  LoRA r=8/16  ·  CTranslate2 int8  ·  Fully Offline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Introduction &amp;
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What VANI is, and the operational problem it solves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Introduction &amp; Problem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A237E"/>
                </a:solidFill>
                <a:latin typeface="Times New Roman"/>
              </a:rPr>
              <a:t>VANI — an offline AI system that turns foreign-language radio intercepts into English intelligence summaries, on a single air-gapped workstation.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5486400" cy="41605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965960"/>
            <a:ext cx="54864" cy="4160520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965960"/>
            <a:ext cx="5486400" cy="365760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01168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imes New Roman"/>
              </a:rPr>
              <a:t>The Operational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4871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High-volume radio traffic in many low-resource
border languages (Punjabi, Pashto, Urdu,
Nepali, Mandarin, Hindi, Kashmiri, Dogri).
All eight now have fine-tuned ASR - Dogri was
the last, added 2026-07-28 (102.39 -&gt; 46.73).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1729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Must run FULLY OFFLINE / air-gapped —
no cloud, no internet at runtime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8587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Generic ASR fails on these languages AND
on the noisy, band-limited radio channel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5445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Manual transcription + translation does not
scale to an operational intercept volume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2303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Analysts need actionable output (who / what /
where / threat), not just a raw transcript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1965960"/>
            <a:ext cx="5669280" cy="41605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965960"/>
            <a:ext cx="54864" cy="416052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1965960"/>
            <a:ext cx="5669280" cy="36576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01168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imes New Roman"/>
              </a:rPr>
              <a:t>The Objective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248716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▸  One end-to-end offline pipeline:
speech → language ID → transcription →
English translation → threat detection →
structured intelligence summary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072" y="332841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▸  Best-in-class ASR per language, auto-selected
by audio language identification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416966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▸  Rigorous, reproducible evaluation to choose the
right ASR backend — under realistic radio noise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1072" y="501091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▸  A usable analyst GUI: map, dashboard, search,
live-mic capture, coded-terminology alerts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What was built and shipped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73152" cy="65836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472184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Working VANI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508760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Streamlit GUI processing radio intercepts end-to-end, fully offline on one RTX 5060 workstation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12264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112264"/>
            <a:ext cx="73152" cy="65836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167128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7-language ASR 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203704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SeamlessM4T v2, auto-selected by MMS-LID; 4 languages on LoRA adapters, 3 zero-shot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07208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807208"/>
            <a:ext cx="73152" cy="658368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8620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Full intelligence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898648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VAD → LID → ASR → NLLB translation → keyword/threat detection → ISUM (Gemma 3) → SQLite + reports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502152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502152"/>
            <a:ext cx="73152" cy="658368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557016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Backend-selection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593592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Head-to-head WER + 5-condition robustness study; 5 scoring-methodology defects found and corrected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197096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4197096"/>
            <a:ext cx="73152" cy="65836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425195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Analyst 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288536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Map + dashboard, transcript search, live-mic capture, coded-terminology alerts, speaker diarization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892040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892040"/>
            <a:ext cx="73152" cy="65836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946903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3-node LAN integration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983479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Optional distributed mode: denoise+diarize (A) + LID/dialect (B) + VANI orchestrator (C)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586983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5586983"/>
            <a:ext cx="73152" cy="658368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5641847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Documentation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0" y="5678423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This fine-tuning report (PDF), presentation deck, correction memo, reproducible eval scripts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The offline model stack, end to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46E7A"/>
                </a:solidFill>
                <a:latin typeface="Times New Roman"/>
              </a:rPr>
              <a:t>Single offline workstation · all models local (HF_HUB_OFFLINE) · GPU-resident with CPU parking on an 8 GB card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2788920" cy="384048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INPUT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8600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41401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Radio intercept WAV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24612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37413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Live microphone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0624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334255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16 kHz mono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79" y="2834640"/>
            <a:ext cx="164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96B"/>
                </a:solidFill>
                <a:latin typeface="Times New Roman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55848" y="1783080"/>
            <a:ext cx="2788920" cy="38404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55848" y="18288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PERCEPTION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55848" y="228600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1568" y="241401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Silero VAD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55848" y="324612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01568" y="337413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MMS-LID-256 (language 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55848" y="420624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4334255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SeamlessM4T v2 ASR</a:t>
            </a:r>
          </a:p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(4 LoRA + 3 zero-shot)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834640"/>
            <a:ext cx="164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96B"/>
                </a:solidFill>
                <a:latin typeface="Times New Roman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45936" y="1783080"/>
            <a:ext cx="2788920" cy="384048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18288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UNDERSTANDING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45936" y="228600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91655" y="241401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NLLB-200 translation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45936" y="324612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1655" y="337413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Keyword / threat detection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45936" y="420624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1655" y="4334255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Gemma 3 ISUM (Ollama)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4855" y="2834640"/>
            <a:ext cx="164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96B"/>
                </a:solidFill>
                <a:latin typeface="Times New Roman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36024" y="1783080"/>
            <a:ext cx="2788920" cy="384048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36024" y="18288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OUTPUT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36024" y="228600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81744" y="241401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Intelligence summary (5W)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336024" y="324612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81744" y="337413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Map · dashboard · search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36024" y="420624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81744" y="4334255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SQLite transcript store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5806440"/>
            <a:ext cx="11430000" cy="685800"/>
          </a:xfrm>
          <a:prstGeom prst="rect">
            <a:avLst/>
          </a:prstGeom>
          <a:solidFill>
            <a:srgbClr val="E0F2F1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5870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37E"/>
                </a:solidFill>
                <a:latin typeface="Times New Roman"/>
              </a:rPr>
              <a:t>Backend selection (Stage 3.5): MMS-LID routes each language to its best ASR backend. All 7 languages now run on SeamlessM4T v2 — Hindi/Nepali/Pashto/Kashmiri with per-language LoRA adapters, Punjabi/Urdu/Mandarin zero-shot. Fine-tuned Whisper models are retained on disk for rollback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How one intercept flows through ten stages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VANI 10-Stage Intelligence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98448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298448"/>
            <a:ext cx="50292" cy="402336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137160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37160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VAD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37160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Silero — detect speech, discard silence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719072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1719072"/>
            <a:ext cx="50292" cy="402336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3192" y="179222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179222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Preprocessing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179222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Bandpass 300–3400 Hz + noise reduction + normalise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139696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2139696"/>
            <a:ext cx="50292" cy="402336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221284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F17"/>
                </a:solidFill>
                <a:latin typeface="Times New Roman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2128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MMS-LID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2212848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Facebook MMS 256-language ID — route to correct model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560320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2560320"/>
            <a:ext cx="50292" cy="402336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" y="263347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F17"/>
                </a:solidFill>
                <a:latin typeface="Times New Roman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63347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ASR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263347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SeamlessM4T v2, per-language backend (LoRA / zero-shot)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980944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" y="2980944"/>
            <a:ext cx="50292" cy="402336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3192" y="305409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F17"/>
                </a:solidFill>
                <a:latin typeface="Times New Roman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3054096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Script Cascade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3054096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Arabic-script override: &gt;20% Nastaliq → Urdu routing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401568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3401568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192" y="347472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347472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Translation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17520" y="347472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NLLB-200 distilled 600M → English transcription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3822191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4320" y="3822191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3192" y="389534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389534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Diarization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17520" y="389534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Speaker separation — up to 4 speakers identified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4242816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74320" y="4242816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3192" y="431596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431596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Keywords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0" y="4315968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Multilingual keyword + threat-entity detection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4663440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4320" y="4663440"/>
            <a:ext cx="50292" cy="402336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3192" y="473659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473659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ISUM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17520" y="473659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Gemma 3:12B (Ollama) → 4-sentence Intel Summary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5084064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74320" y="5084064"/>
            <a:ext cx="50292" cy="402336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93192" y="515721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" y="5157216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Export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17520" y="5157216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SQLite + JSON output + Streamlit web UI (offline)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Analyst-facing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73152" cy="91440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0876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Multilingual ASR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89280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7 border languages auto-routed by LID; turbo fallback for others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17320"/>
            <a:ext cx="73152" cy="91440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0876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Audio Language 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9280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MMS-LID 256-language model + Arabic-script cascade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2316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423160"/>
            <a:ext cx="73152" cy="914400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51460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English Translation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9864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NLLB-200-distilled; IndicTrans2 for Dogri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242316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2423160"/>
            <a:ext cx="73152" cy="914400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51460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Threat Detection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89864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Keyword + entity spotting with a coded-terminology lexicon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42900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3429000"/>
            <a:ext cx="73152" cy="914400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52044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Intelligence Summary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904487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5W structured ISUM via Gemma 3 (Ollama), offline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342900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429000"/>
            <a:ext cx="73152" cy="91440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52044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Speaker Diarization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904487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Who-spoke-when; per-speaker tracks in 3-node mode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43484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4434840"/>
            <a:ext cx="73152" cy="914400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52628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Fully Offline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491032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Air-gapped runtime; no internet after model download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443484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72200" y="4434840"/>
            <a:ext cx="73152" cy="914400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452628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GPU-Accelerated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91032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int8 CT2 + CPU parking to fit an 8 GB card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44068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5440680"/>
            <a:ext cx="73152" cy="914400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553212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Searchable Database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591616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SQLite transcript + summary store with full-text search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72200" y="544068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72200" y="5440680"/>
            <a:ext cx="73152" cy="914400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53212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Analyst GUI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91616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Map, dashboard, live-mic capture, network view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Backend selection, robustness, and the headline WER 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Result: SeamlessM4T surpasses fine-tuned Whisper on 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13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876" y="1298448"/>
            <a:ext cx="9601200" cy="499282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382711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46E7A"/>
                </a:solidFill>
                <a:latin typeface="Times New Roman"/>
              </a:rPr>
              <a:t>Deployed backend vs the fine-tuned Whisper model, per language (n=100 FLEURS held-out, same scorer). Every language improves; the arrow points to the deployed SeamlessM4T backend. Kashmiri is shown separately (different corpus + scoring ruler).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Cross-Model Benchmark — FT Whisper · NLLB · SeamlessM4T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5272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n=100 FLEURS test / IndicVoices-R  ·  re-run 11 Jul 2026, corrected scoring  ·  ASR: WER ↓ better  ·  Translation: chrF ↑ better  ·  Baseline = true large-v3 (not turbo)  ·  SM4T = SeamlessM4T-large-v2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572768"/>
            <a:ext cx="11676888" cy="475488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Baseline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WER (%)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FT Whisper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WER (%)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SeamlessM4T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WER (%)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Deployed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Backend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NLLB-200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chrF 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SeamlessM4T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chrF 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041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Best Transl.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Model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2066543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Punjabi (pa)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Gurmukhi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77.60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57.39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19.77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40.15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54.53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" y="2478024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Pashto (ps)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Nastaliq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89.76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033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38.55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44.40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SM4T+LoRA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44.48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40.15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041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NLLB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6032" y="2889504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Urdu (ur)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173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Nastaliq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603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21.23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033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19.82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776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16.90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79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51.34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50.73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041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NLLB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56032" y="3300984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Nepali (ne)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173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Devanagari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603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88.85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033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50.92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3776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28.46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7220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79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45.55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824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51.67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041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56032" y="3712464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Mandarin (zh)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173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Han Simpl.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603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10.99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7033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14.22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3776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11.69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7220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98079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42.00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7824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49.15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041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56032" y="4123944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43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Hindi (hi)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173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Devanagari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603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26.34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033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19.78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3776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15.44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7220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98079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53.71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7824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51.54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041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NLLB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56032" y="4535424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743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Kashmiri (ks)‡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4173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Nastaliq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5603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    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7033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65.19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93776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50.26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7220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SM4T+tok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98079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7824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1041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N/A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0040" y="50017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46E7A"/>
                </a:solidFill>
                <a:latin typeface="Times New Roman"/>
              </a:rPr>
              <a:t>Zero-shot SeamlessM4T wins ASR for pa / ne / hi / ur / zh. Pashto and Kashmiri were fine-tuned Whisper's last strongholds; both fell in 2026-07 to SeamlessM4T LoRA adapters (ps: noise-augmented training; ks: a trainable __kas__ embedding row, rank 128 and a 20-character vocabulary repair, plus a scoring-ruler correction — see notes). VANI now routes all 7 languages to SeamlessM4T; FT Whisper models are retained on disk for rollback only.   ‡ Kashmiri is absent from FLEURS: its two figures are the 372-clip IndicVoices-R test split at L2, not this table's FLEURS n=100 ruler, and are held-out rather than training-split. The two rulers are not comparable across a row.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Result: the advantage holds — and widens — under radio degradation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15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115" y="1298448"/>
            <a:ext cx="8046720" cy="411596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505857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46E7A"/>
                </a:solidFill>
                <a:latin typeface="Times New Roman"/>
              </a:rPr>
              <a:t>SeamlessM4T's WER advantage over fine-tuned Whisper (percentage points), across five channel conditions on 30 clips/language. Positive everywhere; Hindi (+5→+19.5) and Mandarin (+3.6→+17.2) widen most at 0 dB SNR. Conservative zero-shot comparison — the deployed hi/ne LoRA adapters improve on this further.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ROBUSTNESS 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Radio-Channel Robustness — LangID Accuracy (%)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1615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5 degradation conditions × 7 languages × 4 pipeline configs  |  30 samples/lang  |  1-Jul-2026  |  cells = MMS language-ID accuracy (%), higher is better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90472"/>
            <a:ext cx="11658600" cy="42062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Channel</a:t>
            </a:r>
          </a:p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Condition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Pipeline</a:t>
            </a:r>
          </a:p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Config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ZH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Overall</a:t>
            </a:r>
          </a:p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Avg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956816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1984248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Clean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1984248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90%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87%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73%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27%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54%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2258568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74519" y="2286000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Times New Roman"/>
              </a:rPr>
              <a:t>Full VANI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90%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70%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33%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100%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17%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3252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68%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2560320"/>
            <a:ext cx="11658600" cy="22860"/>
          </a:xfrm>
          <a:prstGeom prst="rect">
            <a:avLst/>
          </a:prstGeom>
          <a:solidFill>
            <a:srgbClr val="C5CAE9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4320" y="2560320"/>
            <a:ext cx="11658600" cy="301752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2587752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Bandpass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74519" y="2587752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036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70%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0332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83%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33%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4924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27%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3252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45%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2862072"/>
            <a:ext cx="11658600" cy="301752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74519" y="2889504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Times New Roman"/>
              </a:rPr>
              <a:t>Full VANI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8036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73%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0332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83%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2628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33%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924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27%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100%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4088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23%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3252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61%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3163824"/>
            <a:ext cx="11658600" cy="22860"/>
          </a:xfrm>
          <a:prstGeom prst="rect">
            <a:avLst/>
          </a:prstGeom>
          <a:solidFill>
            <a:srgbClr val="C5CAE9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4320" y="3163824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4320" y="3191256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AWGN 10dB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74519" y="3191256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036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97%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0332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63%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80%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4924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43%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4088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6384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3252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55%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3465576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874519" y="3493008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Times New Roman"/>
              </a:rPr>
              <a:t>Full VANI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8036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97%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70332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63%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2628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80%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34924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43%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1792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100%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04088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6384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3%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3252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67%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3767328"/>
            <a:ext cx="11658600" cy="22860"/>
          </a:xfrm>
          <a:prstGeom prst="rect">
            <a:avLst/>
          </a:prstGeom>
          <a:solidFill>
            <a:srgbClr val="C5CAE9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4320" y="3767328"/>
            <a:ext cx="11658600" cy="301752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4320" y="3794760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AWGN 0dB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74519" y="3794760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8036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57%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70332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63%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52628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27%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4924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13%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4088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86384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73252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37%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74320" y="4069080"/>
            <a:ext cx="11658600" cy="301752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874519" y="4096512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62828"/>
                </a:solidFill>
                <a:latin typeface="Times New Roman"/>
              </a:rPr>
              <a:t>Full VANI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88036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60%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70332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67%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52628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27%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4924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17%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1792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97%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04088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53%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6384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73252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46%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74320" y="4370832"/>
            <a:ext cx="11658600" cy="22860"/>
          </a:xfrm>
          <a:prstGeom prst="rect">
            <a:avLst/>
          </a:prstGeom>
          <a:solidFill>
            <a:srgbClr val="C5CAE9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74320" y="4370832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74320" y="4398264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MP3 16kbps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74519" y="4398264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88036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77%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70332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47%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2628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63%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34924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23%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21792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04088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86384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73252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44%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74320" y="4672584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874519" y="4700016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Times New Roman"/>
              </a:rPr>
              <a:t>Full VANI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88036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77%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70332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47%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52628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63%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34924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23%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21792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97%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04088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86384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20%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73252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59%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4320" y="49834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546E7A"/>
                </a:solidFill>
                <a:latin typeface="Times New Roman"/>
              </a:rPr>
              <a:t>ZH: most robust (97–100% all conditions)  ·  PS: MMS-LID essential, Whisper-only = 0%  ·  Full VANI avg +14 pp over Whisper-only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Result: Kashmiri — the WER gap was the scoring ruler, not the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17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115" y="1298448"/>
            <a:ext cx="8046720" cy="430305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69294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46E7A"/>
                </a:solidFill>
                <a:latin typeface="Times New Roman"/>
              </a:rPr>
              <a:t>Raw word-error rate once made Whisper look ahead of the first adapter, but Perso-Arabic references are densely diacritised and BOTH systems drop the marks — the gap was the ruler. Corrected, every successive adapter widens the win: the deployed r=128 ks_cloud3 (rented cloud GPU, plus a repaired vocabulary) leads on all three measures and won the 5-condition degradation sweep 5/5.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From Whisper fine-tuning to SeamlessM4T — how the backend was chosen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1A237E"/>
                </a:solidFill>
                <a:latin typeface="Times New Roman"/>
              </a:rPr>
              <a:t>Seven Whisper LoRA models were fine-tuned first; a corrected evaluation then showed SeamlessM4T wins, and a targeted adapter campaign brought all seven languages onto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470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847088"/>
            <a:ext cx="73152" cy="621792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901952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57F17"/>
                </a:solidFill>
                <a:latin typeface="Times New Roman"/>
              </a:rPr>
              <a:t>1 · Fine-tune Whisper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18836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7 languages, LoRA r=8/16 on FLEURS + IndicVoices-R. Kashmiri needed a custom &lt;|ks|&gt; vocab token.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328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532888"/>
            <a:ext cx="73152" cy="621792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587752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62828"/>
                </a:solidFill>
                <a:latin typeface="Times New Roman"/>
              </a:rPr>
              <a:t>2 · Correct the scoring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5694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Found the baseline was mislabelled turbo, and Mandarin WER was a whitespace artefact. Re-scored with one CJK-aware normaliser.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2186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218688"/>
            <a:ext cx="73152" cy="62179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273552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96B"/>
                </a:solidFill>
                <a:latin typeface="Times New Roman"/>
              </a:rPr>
              <a:t>3 · Head-to-head + robustness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32552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Zero-shot SeamlessM4T beat fine-tuned Whisper on 5/6 languages and held under bandpass/noise/codec.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904487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904487"/>
            <a:ext cx="73152" cy="621792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959351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Times New Roman"/>
              </a:rPr>
              <a:t>4 · Adapter campaign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3941063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hi/ne gained from IndicVoices data; Pashto fell to noise-augmented training; Kashmiri to a trainable __kas__ token + a ruler correction.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902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4590288"/>
            <a:ext cx="73152" cy="62179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645151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96B"/>
                </a:solidFill>
                <a:latin typeface="Times New Roman"/>
              </a:rPr>
              <a:t>5 · Cloud capacity push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46268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Rented A6000s (~$11) retrained ps+ks at r=128 — beyond the 8 GB laptop: Pashto 36.91→36.16, Kashmiri 61.88→50.26 (3.84 pp from simply letting the run converge, then 2.34 pp from repairing the vocabulary). Both passed their gates and deployed.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2760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5276088"/>
            <a:ext cx="73152" cy="621792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5330951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62828"/>
                </a:solidFill>
                <a:latin typeface="Times New Roman"/>
              </a:rPr>
              <a:t>6 · Exhausting the levers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77639" y="53126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Two honest negatives closed the campaign: a warm start improved validation loss but LOST 0.43 pp WER (5th loss/WER divergence), and beam search gains ~3 pp on clean speech while losing ~3 pp at 0 dB SNR. Production decoding unchanged.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59618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5760" y="5961888"/>
            <a:ext cx="73152" cy="621792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016751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Times New Roman"/>
              </a:rPr>
              <a:t>7 · Outcome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77639" y="59984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All 7 languages route to SeamlessM4T. Kashmiri 65.19 → 50.26 on one held-out L2 ruler. What remains is a data/acoustic limit, not an optimisation one. Five scoring defects caught in total.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Training hours &amp; dataset sizes — the closing adapter campaign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1A237E"/>
                </a:solidFill>
                <a:latin typeface="Times New Roman"/>
              </a:rPr>
              <a:t>Measured, not estimated: THREE surviving Whisper runs alone came to 103 laptop GPU-hours, and 62% of that was periodic evaluation, not training. The 19 local adapter runs spent 4.7 h evaluating between them. The two production adapters that closed the campaign cost ~$6 of rented cloud compute, total.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965960"/>
            <a:ext cx="11676888" cy="45720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Language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Training data (clips / hours)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LoRA 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Wall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1852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2441448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2441448"/>
            <a:ext cx="50292" cy="402336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ks_max2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97,456 / 240 h — humair025 + IV-R + OpenSLR-122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RTX 5060 8 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~19 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61.88%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1852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Rollback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" y="2862072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6032" y="2862072"/>
            <a:ext cx="50292" cy="402336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ps_aug2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Pashto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295351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32,656 / ~55 h — CV 30k + FLEURS ps_af x8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RTX 5060 8 GB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~5 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2828"/>
                </a:solidFill>
                <a:latin typeface="Times New Roman"/>
              </a:rPr>
              <a:t>37.46%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1852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2828"/>
                </a:solidFill>
                <a:latin typeface="Times New Roman"/>
              </a:rPr>
              <a:t>Negative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282696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56032" y="3282696"/>
            <a:ext cx="50292" cy="402336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6304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88920" y="3374136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144,749 / 335 h — same 3 sources, rebuilt (grown)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6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6092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1540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6 h 35 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1268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56.44%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1852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Rollback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6032" y="3703320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56032" y="3703320"/>
            <a:ext cx="50292" cy="402336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6304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88920" y="3794759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144,749 / 335 h — as ks_cloud, 2 epochs (patience 5)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3796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1540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~9 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52.60%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1852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Rollback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56032" y="4123944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56032" y="4123944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6304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88920" y="4215383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144,942 / 336 h — as ks_cloud2 + 20 vocab chars repaired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3796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6092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1540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~8 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1268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50.26%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1852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DEPLOYED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56032" y="4544568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56032" y="4544568"/>
            <a:ext cx="50292" cy="402336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432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6304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636007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as ks_cloud3, warm start, token rows at 5x LR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3796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6092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91540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~1 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1268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2828"/>
                </a:solidFill>
                <a:latin typeface="Times New Roman"/>
              </a:rPr>
              <a:t>50.69%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01852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2828"/>
                </a:solidFill>
                <a:latin typeface="Times New Roman"/>
              </a:rPr>
              <a:t>Rejected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56032" y="4965192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56032" y="4965192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7432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ps_cloud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46304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Pashto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5056631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18,656 / ~30 h — CV 10k + FLEURS ps_af x8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3796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6092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1540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 h 32 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36.16%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01852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DEPLOYED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56032" y="5385816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56032" y="5385816"/>
            <a:ext cx="50292" cy="402336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7432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doi_iv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6304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Dogri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788920" y="5477255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IndicVoices-R Dogri — 97 shards, 43.8 GB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3796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36092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1540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~6 h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1268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50.07%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01852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cut short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56032" y="5806440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256032" y="5806440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7432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doi_iv2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46304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Dogri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88920" y="5897879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as doi_iv, fresh LR schedule, 9,000 steps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53796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6092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1540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~9 h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01268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46.73%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01852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BEST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65760" y="636422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Kashmiri result = diacritic-normalised WER, 372-clip IndicVoices-R test  ·  Pashto result = clean FLEURS ps_af, n=100.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65760" y="6620256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Cloud runs: rented RTX A6000s at $0.53/hr — ks_cloud ≈ $4, ks_cloud2 ≈ $5, ks_cloud3 ≈ $4, ps_cloud ≈ $2. Corpus rebuilt from source on the box;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65760" y="687628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humair025 had grown upstream → 144,749 clips / 335.4 h (131,868 unique sentences), 2–20 s filter, eval-leak blocklist applied.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5760" y="71323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The decisive lever was CAPACITY (r=128 = 6.6% trainable vs r=32 = 1.75%) — more data at unchanged capacity regressed (ps_aug2).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KEY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Key Findings &amp; Technical Insights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98448"/>
            <a:ext cx="502920" cy="74980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6303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98448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34416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7F17"/>
                </a:solidFill>
                <a:latin typeface="Times New Roman"/>
              </a:rPr>
              <a:t>LoRA Effective at 0.25% Params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645919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WER drops 1.4–51 pp where fine-tuning helps (zh regressed). r=8/r=16 sufficient. Full fine-tune (40+ GB VRAM) unnecessary.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157984"/>
            <a:ext cx="502920" cy="749808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322576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157984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2203703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Times New Roman"/>
              </a:rPr>
              <a:t>FLEURS + IndicVoices-R Transfer to Radio Domain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505456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Clean read-speech training improves military-domain accuracy. PA v2: +9,407 IV-R samples → −4.1 pp.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017520"/>
            <a:ext cx="502920" cy="7498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1821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17520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063239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96B"/>
                </a:solidFill>
                <a:latin typeface="Times New Roman"/>
              </a:rPr>
              <a:t>MMS-LID Critical for Pashto &amp; Robustness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364991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Whisper-only scores 0% on Pashto LangID. MMS-LID lifts it to 53–87% across 5 degradation conditions.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877056"/>
            <a:ext cx="502920" cy="749808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404164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877056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92277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62828"/>
                </a:solidFill>
                <a:latin typeface="Times New Roman"/>
              </a:rPr>
              <a:t>fp16 Gradient Explosion Risk at Low LR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22452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Mandarin diverged at step ~820 (grad_norm=12.9, loss 0.15→0.77). Fix: max_grad_norm=0.5 for all subsequent.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736592"/>
            <a:ext cx="502920" cy="74980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901183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736592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782312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7F17"/>
                </a:solidFill>
                <a:latin typeface="Times New Roman"/>
              </a:rPr>
              <a:t>CT2 Tokenizer Bug — All large-v3 Models Translated Not Transcribed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084064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ct2-transformers-converter omits tokenizer.json. large-v3: translate=50359; tiny: transcribe=50359. One-token shift. Now automated.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596127"/>
            <a:ext cx="502920" cy="7498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576071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596127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5641847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96B"/>
                </a:solidFill>
                <a:latin typeface="Times New Roman"/>
              </a:rPr>
              <a:t>Script Cascade Prevents Nastaliq Misidentification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943599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&gt;20% Nastaliq chars in transcript → Urdu override. Critical for noisy radio audio.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6455663"/>
            <a:ext cx="502920" cy="749808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6620255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6455663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6501383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A1B9A"/>
                </a:solidFill>
                <a:latin typeface="Times New Roman"/>
              </a:rPr>
              <a:t>Full VANI +14 pp over Whisper-Only (Robustness Eval)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6803135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5 conditions × 7 langs × 4 configs. ZH: 97–100%. PS: MMS-LID essential. Mandarin most robust.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Where VANI goes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Next Steps to Improve Accuracy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46E7A"/>
                </a:solidFill>
                <a:latin typeface="Times New Roman"/>
              </a:rPr>
              <a:t>Prioritised levers to push WER lower — ordered by expected impact for the high-WER languages (PA, NE, KS).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6304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54864" cy="2542032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3749039" cy="365760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52704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1  ·  Scale Training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Biggest lever for PA / NE / KS (highest WER)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4231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Add IndicVoices-R full split + Shrutilipi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290779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KS starved at 20k → target 50k+ samples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339242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Common Voice + FLEURS-R for extra hours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146304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60520" y="1463040"/>
            <a:ext cx="54864" cy="25420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0520" y="1463040"/>
            <a:ext cx="3749039" cy="36576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152704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2  ·  Increase Model Capacity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193852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PA v3 r=16 already beats r=8 by 2–3 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0248" y="24231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Try r=32 / α=64 for PA, NE, 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0248" y="290779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Expand targets: add k_proj, o_proj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0248" y="339242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Optionally add fc1/fc2 (MLP) adapters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146304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1463040"/>
            <a:ext cx="54864" cy="2542032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1463040"/>
            <a:ext cx="3749039" cy="365760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56448" y="152704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3  ·  Longer / Smarter Training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56448" y="193852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NE loss still falling at step 3000 → extend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6448" y="24231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Cosine LR schedule + warm restarts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6448" y="290779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Higher LR (7e-5) with max_grad_norm=0.5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6448" y="339242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More frequent eval near convergence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16052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4160520"/>
            <a:ext cx="54864" cy="2542032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4320" y="4160520"/>
            <a:ext cx="3749039" cy="365760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422452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4  ·  Radio-Domain Augmentation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463600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SpecAugment (time/freq masking)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" y="512064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RIR reverb + additive noise injection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" y="560527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MP3 / codec + bandpass augmentation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4048" y="608990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Pseudo-label real radio intercepts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0520" y="416052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60520" y="4160520"/>
            <a:ext cx="54864" cy="2542032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60520" y="4160520"/>
            <a:ext cx="3749039" cy="365760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0248" y="422452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5  ·  Decoding-Time Gains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70248" y="463600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Tune beam width + temperature fallback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70248" y="512064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KenLM shallow fusion for low-resource langs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70248" y="560527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Repetition / no-speech threshold tuning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70248" y="608990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Script-cascade confidence calibration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46720" y="416052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46720" y="4160520"/>
            <a:ext cx="54864" cy="2542032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46720" y="4160520"/>
            <a:ext cx="3749039" cy="365760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56448" y="422452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6  ·  Recover Mandarin Headroom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56448" y="463600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Val WER hit 8.97% before divergence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56448" y="512064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Resume past ckpt-400 at lower LR (2e-5)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56448" y="560527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Stronger clipping to avoid fp16 overflow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56448" y="608990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Target ZH test WER &lt; 12%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6528816"/>
            <a:ext cx="11658600" cy="274320"/>
          </a:xfrm>
          <a:prstGeom prst="rect">
            <a:avLst/>
          </a:prstGeom>
          <a:solidFill>
            <a:srgbClr val="E0F2F1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56248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1">
                <a:solidFill>
                  <a:srgbClr val="1A237E"/>
                </a:solidFill>
                <a:latin typeface="Times New Roman"/>
              </a:rPr>
              <a:t>Delivered: PA v3 (r=16, 21,923 samples) completed 4000 steps → 49.31% deployed, −3.24 pp below v2. Next levers below.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Times New Roman"/>
              </a:rPr>
              <a:t>Deployment &amp; Conclusions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11274552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50392"/>
            <a:ext cx="2816352" cy="14173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50392"/>
            <a:ext cx="54864" cy="141732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850392"/>
            <a:ext cx="2816352" cy="5029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144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96B"/>
                </a:solidFill>
                <a:latin typeface="Times New Roman"/>
              </a:rPr>
              <a:t>7 Models Fine-Tuned
pa · ps · ur · ne · zh · hi · 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8132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All CT2 int8, fully offline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850392"/>
            <a:ext cx="2816352" cy="14173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73552" y="850392"/>
            <a:ext cx="54864" cy="1417320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3552" y="850392"/>
            <a:ext cx="2816352" cy="50292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2" y="9144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57F17"/>
                </a:solidFill>
                <a:latin typeface="Times New Roman"/>
              </a:rPr>
              <a:t>Backend Selected
per Language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2" y="148132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SeamlessM4T ×7  ·  FT Whisper ×0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850392"/>
            <a:ext cx="2816352" cy="14173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850392"/>
            <a:ext cx="54864" cy="1417320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850392"/>
            <a:ext cx="2816352" cy="50292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8504" y="9144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Times New Roman"/>
              </a:rPr>
              <a:t>All 7 Languages Now
Run on SeamlessM4T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48132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 models kept only for rollback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9136" y="850392"/>
            <a:ext cx="2816352" cy="14173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89136" y="850392"/>
            <a:ext cx="54864" cy="1417320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89136" y="850392"/>
            <a:ext cx="2816352" cy="50292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6296" y="9144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6A1B9A"/>
                </a:solidFill>
                <a:latin typeface="Times New Roman"/>
              </a:rPr>
              <a:t>0.25–0.51% Params
LoRA r=8 / r=16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148132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No full fine-tune needed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242316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Production ASR Backend per Language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779776"/>
            <a:ext cx="6492240" cy="32918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2779776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8346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(zero-shot)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283464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Punjabi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83464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19.77%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118104"/>
            <a:ext cx="6492240" cy="329184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118104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317296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+ ps LoRA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3172968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Pashto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0" y="317296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36.16%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456432"/>
            <a:ext cx="6492240" cy="32918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3456432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3511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(zero-shot)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3511296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Urdu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3511296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16.90%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3794760"/>
            <a:ext cx="6492240" cy="329184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3794760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84962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+ ne LoRA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3849624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Nepali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03520" y="3849624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24.34%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133088"/>
            <a:ext cx="6492240" cy="32918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5760" y="4133088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418795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(zero-shot)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06240" y="4187952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Mandarin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03520" y="4187952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11.69%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4471416"/>
            <a:ext cx="6492240" cy="329184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5760" y="4471416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45262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+ hi LoRA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06240" y="452628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Hindi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3520" y="452628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12.91%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4809744"/>
            <a:ext cx="6492240" cy="32918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65760" y="4809744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" y="486460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+ ks LoRA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06240" y="4864608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Kashmiri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03520" y="486460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50.26%*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5166360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46E7A"/>
                </a:solidFill>
                <a:latin typeface="Times New Roman"/>
              </a:rPr>
              <a:t>* ks: diacritic-normalised WER (raw is inflated by dense Perso-Arabic marks for BOTH systems). Deployed ks_cloud3 (r=128 + 20 repaired vocab chars) vs Whisper-ks 65.19 — see notes.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32320" y="24231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Next Steps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132320" y="2779776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132320" y="2779776"/>
            <a:ext cx="50292" cy="475488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242048" y="2825496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Backend routing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85632" y="2825496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DEPLOYED — SeamlessM4T for all 7 languages (hi/ne/ps/ks w/ LoRA)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132320" y="3300984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132320" y="3300984"/>
            <a:ext cx="50292" cy="475488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242048" y="3346703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Robustness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85632" y="3346703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COMPLETE — 5 cond × 7 langs; SM4T lead holds under noise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132320" y="3822191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132320" y="3822191"/>
            <a:ext cx="50292" cy="47548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242048" y="3867911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F17"/>
                </a:solidFill>
                <a:latin typeface="Times New Roman"/>
              </a:rPr>
              <a:t>Seamless timing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85632" y="3867911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Per-utterance segments added; per-VAD-segment ASR live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132320" y="4343400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132320" y="4343400"/>
            <a:ext cx="50292" cy="475488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242048" y="438912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A1B9A"/>
                </a:solidFill>
                <a:latin typeface="Times New Roman"/>
              </a:rPr>
              <a:t>Reports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85632" y="4389120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Regenerated from corrected n=100 scoring (this deck)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132320" y="4864608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132320" y="4864608"/>
            <a:ext cx="50292" cy="47548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242048" y="4910328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Paper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85632" y="4910328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VANI → IJAINN / SLT 2026 submission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6528816"/>
            <a:ext cx="11274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FFFFF"/>
                </a:solidFill>
                <a:latin typeface="Times New Roman"/>
              </a:rPr>
              <a:t>VANI  ·  M.Tech Research  ·  IIT Indore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