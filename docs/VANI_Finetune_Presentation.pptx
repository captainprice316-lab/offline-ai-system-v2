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5603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</a:rPr>
              <a:t>VANI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CE8E5"/>
                </a:solidFill>
              </a:rPr>
              <a:t>Voice Analysis &amp; Neural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695C"/>
                </a:solidFill>
              </a:rPr>
              <a:t>Whisper Fine-Tuning Report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3584448"/>
            <a:ext cx="4572000" cy="228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033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55555"/>
                </a:solidFill>
              </a:rPr>
              <a:t>LoRA Adaptation for 6 Border-Region Languages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</a:rPr>
              <a:t>M.Tech Research Project  ·  IIT Indore  · 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9834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9999"/>
                </a:solidFill>
              </a:rPr>
              <a:t>Hardware: NVIDIA RTX 5060 8 GB  ·  Windows 11  ·  CUDA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41248"/>
            <a:ext cx="12188952" cy="457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2194560" cy="2743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2860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695C"/>
                </a:solidFill>
              </a:rPr>
              <a:t>Why Fine-Tune?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11430000" cy="228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530352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5303520" cy="347472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16736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78308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▸  Baseline Whisper large-v3 WER
on Punjabi: ~75%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44144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▸  Urdu baseline WER: ~74%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99815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▸  Hindi baseline WER: ~75%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58183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▸  Radio intercept audio is noisy
&amp; domain-specific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16551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▸  Generic model not trained on
border-language acoustics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280160"/>
            <a:ext cx="539496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280160"/>
            <a:ext cx="5394960" cy="347472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316736"/>
            <a:ext cx="5120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The Solution — LoRA Fine-Tuning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7830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▸  Adapt only 0.25% of parameters
(LoRA r=8, alpha=16)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4144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▸  Train on FLEURS speech corpus
(no military data needed)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099815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▸  Keep base model frozen —
no catastrophic forgetting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758183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▸  Export to int8 CT2 format
for fast offline inference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416551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</a:rPr>
              <a:t>▸  Plug directly into VANI
10-stage pipeline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41248"/>
            <a:ext cx="12188952" cy="457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2194560" cy="2743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2860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943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12121"/>
                </a:solidFill>
              </a:rPr>
              <a:t>LoRA Fine-Tuning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11430000" cy="228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554480"/>
            <a:ext cx="173736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5727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695C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011680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2121"/>
                </a:solidFill>
              </a:rPr>
              <a:t>FLEURS
Dataset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79" y="19202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695C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04288" y="1554480"/>
            <a:ext cx="173736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04288" y="15727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695C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04288" y="2011680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2121"/>
                </a:solidFill>
              </a:rPr>
              <a:t>WhisperProcessor
Feature Extract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41648" y="19202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695C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4256" y="1554480"/>
            <a:ext cx="173736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34256" y="15727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A1B9A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4256" y="2011680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2121"/>
                </a:solidFill>
              </a:rPr>
              <a:t>LoRA Adapter
r=8, q+v proj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1616" y="19202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695C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64224" y="1554480"/>
            <a:ext cx="173736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15727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A1B9A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2011680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2121"/>
                </a:solidFill>
              </a:rPr>
              <a:t>Seq2Seq
Trainer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01584" y="19202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695C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94192" y="1554480"/>
            <a:ext cx="173736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94192" y="15727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897B"/>
                </a:solidFill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4192" y="2011680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2121"/>
                </a:solidFill>
              </a:rPr>
              <a:t>Merge &amp;
Convert CT2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31552" y="19202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695C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424160" y="1554480"/>
            <a:ext cx="173736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24160" y="15727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897B"/>
                </a:solidFill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2011680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2121"/>
                </a:solidFill>
              </a:rPr>
              <a:t>VANI
Deployment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6A1B9A"/>
                </a:solidFill>
              </a:rPr>
              <a:t>LoRA Configuration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456432"/>
            <a:ext cx="53035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3502151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LoRA Rank (r)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17520" y="3502151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</a:rPr>
              <a:t>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822191"/>
            <a:ext cx="53035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867911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LoRA Alpha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17520" y="3867911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</a:rPr>
              <a:t>16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187952"/>
            <a:ext cx="53035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23367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Target Modules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17520" y="423367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</a:rPr>
              <a:t>q_proj, v_proj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553712"/>
            <a:ext cx="53035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459943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Trainable Params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17520" y="459943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</a:rPr>
              <a:t>~3.9M / 1.55B (0.25%)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4919472"/>
            <a:ext cx="53035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496519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Learning Rate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17520" y="496519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</a:rPr>
              <a:t>5×10⁻⁵ with warmup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5285232"/>
            <a:ext cx="53035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533095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Quantization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17520" y="533095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</a:rPr>
              <a:t>int8 via CTranslate2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30175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6A1B9A"/>
                </a:solidFill>
              </a:rPr>
              <a:t>Training Notes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26480" y="34290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▸  Batch size 2, no gradient accumulation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0" y="37673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▸  Early stopping: patience = 3 evals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26480" y="41056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▸  Eval metric: Word Error Rate (WER)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26480" y="44439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▸  Best checkpoint auto-selected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26480" y="47823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▸  Windows 11 CUDA — no torchcodec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26480" y="51206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▸  fp16 training, float32 eval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41248"/>
            <a:ext cx="12188952" cy="457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2194560" cy="2743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2860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943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12121"/>
                </a:solidFill>
              </a:rPr>
              <a:t>Fine-Tuning Results — All 7 Languages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11430000" cy="228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11612880" cy="347472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371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Language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371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371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Base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1371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Dataset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1371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371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Best 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3716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Size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691640"/>
            <a:ext cx="116128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172821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Punjabi  (pa)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172821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Gurmukhi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172821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large-v3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172821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FLEURS pa_in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172821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3000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172821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62828"/>
                </a:solidFill>
              </a:rPr>
              <a:t>55.67%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1728216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1479 MB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020824"/>
            <a:ext cx="11612880" cy="320040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205740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Pashto   (ps)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05740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Nastaliq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205740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medium-pashto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205740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FLEURS ps_af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205740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2000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05740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A1B9A"/>
                </a:solidFill>
              </a:rPr>
              <a:t>38.55%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205740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 734 MB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2350008"/>
            <a:ext cx="116128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238658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Urdu     (ur)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238658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Nastaliq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238658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large-v3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238658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FLEURS ur_pk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38658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1000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238658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897B"/>
                </a:solidFill>
              </a:rPr>
              <a:t>19.82%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2386584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1479 MB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2679191"/>
            <a:ext cx="11612880" cy="320040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" y="271576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Nepali   (ne)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0" y="271576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Devanagari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0" y="271576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large-v3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0" y="271576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FLEURS ne_np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271576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2000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271576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A1B9A"/>
                </a:solidFill>
              </a:rPr>
              <a:t>49.24%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32720" y="271576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1479 MB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3008375"/>
            <a:ext cx="116128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560" y="3044951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Mandarin (zh)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0" y="3044951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Simplified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0" y="3044951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large-v3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0" y="3044951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FLEURS cmn_hans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89520" y="3044951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 400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3044951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897B"/>
                </a:solidFill>
              </a:rPr>
              <a:t>16.03%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32720" y="3044951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1479 MB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3337559"/>
            <a:ext cx="11612880" cy="320040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" y="3374135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Hindi    (hi)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43200" y="3374135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Devanagari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14800" y="3374135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large-v3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0" y="3374135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FLEURS hi_in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89520" y="3374135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 600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0" y="3374135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897B"/>
                </a:solidFill>
              </a:rPr>
              <a:t>19.78%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32720" y="3374135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1479 MB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74320" y="3666744"/>
            <a:ext cx="116128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1560" y="370332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Kashmiri (ks)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43200" y="370332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Nastaliq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14800" y="370332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large-v3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0" y="370332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IndicVoices 20k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89520" y="370332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1500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44000" y="370332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55555"/>
                </a:solidFill>
              </a:rPr>
              <a:t>N/A†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332720" y="370332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1479 MB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63550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Eval WER: 100-sample FLEURS test (FLEURS) / IndicVoices val (ks)  ·  Baseline was turbo model  ·  † Kashmiri: ur-proxy, eval_loss=0.936 at ckpt-1500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41248"/>
            <a:ext cx="12188952" cy="457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2194560" cy="2743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2860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WER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943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12121"/>
                </a:solidFill>
              </a:rPr>
              <a:t>Word Error Rate — Fine-Tuned vs Baseline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11430000" cy="228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14600" y="13258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AAAAA"/>
                </a:solidFill>
              </a:rPr>
              <a:t>Baseline 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508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897B"/>
                </a:solidFill>
              </a:rPr>
              <a:t>Fine-Tuned 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78308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212121"/>
                </a:solidFill>
              </a:rPr>
              <a:t>Mandarin (zh)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1783080"/>
            <a:ext cx="4573371" cy="128016"/>
          </a:xfrm>
          <a:prstGeom prst="rect">
            <a:avLst/>
          </a:prstGeom>
          <a:solidFill>
            <a:srgbClr val="555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68880" y="1920240"/>
            <a:ext cx="732891" cy="128016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87971" y="1783080"/>
            <a:ext cx="7315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AAAA"/>
                </a:solidFill>
              </a:rPr>
              <a:t>100.03%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7491" y="1920240"/>
            <a:ext cx="7315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897B"/>
                </a:solidFill>
              </a:rPr>
              <a:t>16.03%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246888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212121"/>
                </a:solidFill>
              </a:rPr>
              <a:t>Urdu (ur)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68880" y="2468880"/>
            <a:ext cx="1117396" cy="128016"/>
          </a:xfrm>
          <a:prstGeom prst="rect">
            <a:avLst/>
          </a:prstGeom>
          <a:solidFill>
            <a:srgbClr val="555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468880" y="2606040"/>
            <a:ext cx="906170" cy="128016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31996" y="2468880"/>
            <a:ext cx="7315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AAAA"/>
                </a:solidFill>
              </a:rPr>
              <a:t>24.44%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0770" y="2606040"/>
            <a:ext cx="7315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897B"/>
                </a:solidFill>
              </a:rPr>
              <a:t>19.82%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315468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212121"/>
                </a:solidFill>
              </a:rPr>
              <a:t>Hindi (hi)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68880" y="3154680"/>
            <a:ext cx="1384858" cy="128016"/>
          </a:xfrm>
          <a:prstGeom prst="rect">
            <a:avLst/>
          </a:prstGeom>
          <a:solidFill>
            <a:srgbClr val="555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468880" y="3291840"/>
            <a:ext cx="904341" cy="128016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99458" y="3154680"/>
            <a:ext cx="7315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AAAA"/>
                </a:solidFill>
              </a:rPr>
              <a:t>30.29%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8941" y="3291840"/>
            <a:ext cx="7315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897B"/>
                </a:solidFill>
              </a:rPr>
              <a:t>19.78%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384048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212121"/>
                </a:solidFill>
              </a:rPr>
              <a:t>Pashto (ps)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68880" y="3840480"/>
            <a:ext cx="4308195" cy="128016"/>
          </a:xfrm>
          <a:prstGeom prst="rect">
            <a:avLst/>
          </a:prstGeom>
          <a:solidFill>
            <a:srgbClr val="555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468880" y="3977640"/>
            <a:ext cx="1762506" cy="12801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2795" y="3840480"/>
            <a:ext cx="7315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AAAA"/>
                </a:solidFill>
              </a:rPr>
              <a:t>94.23%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7106" y="3977640"/>
            <a:ext cx="7315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A1B9A"/>
                </a:solidFill>
              </a:rPr>
              <a:t>38.55%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452628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212121"/>
                </a:solidFill>
              </a:rPr>
              <a:t>Nepali (ne)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468880" y="4526280"/>
            <a:ext cx="4322826" cy="128016"/>
          </a:xfrm>
          <a:prstGeom prst="rect">
            <a:avLst/>
          </a:prstGeom>
          <a:solidFill>
            <a:srgbClr val="555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468880" y="4663440"/>
            <a:ext cx="2251252" cy="12801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37426" y="4526280"/>
            <a:ext cx="7315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AAAA"/>
                </a:solidFill>
              </a:rPr>
              <a:t>94.55%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65852" y="4663440"/>
            <a:ext cx="7315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A1B9A"/>
                </a:solidFill>
              </a:rPr>
              <a:t>49.24%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21208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212121"/>
                </a:solidFill>
              </a:rPr>
              <a:t>Punjabi (pa)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68880" y="5212080"/>
            <a:ext cx="4836718" cy="128016"/>
          </a:xfrm>
          <a:prstGeom prst="rect">
            <a:avLst/>
          </a:prstGeom>
          <a:solidFill>
            <a:srgbClr val="555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68880" y="5349240"/>
            <a:ext cx="2545232" cy="128016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51318" y="5212080"/>
            <a:ext cx="7315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AAAA"/>
                </a:solidFill>
              </a:rPr>
              <a:t>105.79%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59832" y="5349240"/>
            <a:ext cx="7315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62828"/>
                </a:solidFill>
              </a:rPr>
              <a:t>55.67%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589520" y="1417320"/>
            <a:ext cx="420624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0" y="150876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A1B9A"/>
                </a:solidFill>
              </a:rPr>
              <a:t>Improvement Summary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80960" y="1965960"/>
            <a:ext cx="3931920" cy="530352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0" y="2002536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</a:rPr>
              <a:t>Mandarin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78240" y="2002536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100% → 16.0%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24160" y="2002536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0897B"/>
                </a:solidFill>
              </a:rPr>
              <a:t>-84.0 pp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80960" y="2542032"/>
            <a:ext cx="3931920" cy="530352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0" y="2578608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</a:rPr>
              <a:t>Pashto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2578608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94% → 38.6%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60" y="2578608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0897B"/>
                </a:solidFill>
              </a:rPr>
              <a:t>-55.7 pp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80960" y="3118103"/>
            <a:ext cx="3931920" cy="530352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0" y="3154679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</a:rPr>
              <a:t>Punjabi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78240" y="3154679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106% → 55.7%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24160" y="3154679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0897B"/>
                </a:solidFill>
              </a:rPr>
              <a:t>-50.1 pp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680960" y="3694176"/>
            <a:ext cx="3931920" cy="530352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72400" y="3730752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</a:rPr>
              <a:t>Nepali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78240" y="3730752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95% → 49.2%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24160" y="3730752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0897B"/>
                </a:solidFill>
              </a:rPr>
              <a:t>-45.3 pp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680960" y="4270248"/>
            <a:ext cx="3931920" cy="530352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72400" y="4306824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</a:rPr>
              <a:t>Hindi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78240" y="4306824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30% → 19.8%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24160" y="4306824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0897B"/>
                </a:solidFill>
              </a:rPr>
              <a:t>-10.5 pp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80960" y="4846320"/>
            <a:ext cx="3931920" cy="530352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72400" y="4882896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</a:rPr>
              <a:t>Urdu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78240" y="4882896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24% → 19.8%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24160" y="4882896"/>
            <a:ext cx="1005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0897B"/>
                </a:solidFill>
              </a:rPr>
              <a:t>-4.6 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41248"/>
            <a:ext cx="12188952" cy="457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2194560" cy="2743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2860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LANGUAGE DEEP-DIVE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94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12121"/>
                </a:solidFill>
              </a:rPr>
              <a:t>Per-Language WER Progression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70432"/>
            <a:ext cx="11430000" cy="228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3657600" cy="2514600"/>
          </a:xfrm>
          <a:prstGeom prst="rect">
            <a:avLst/>
          </a:prstGeom>
          <a:solidFill>
            <a:srgbClr val="FFFFFF"/>
          </a:solidFill>
          <a:ln w="1524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39903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</a:rPr>
              <a:t>Punjabi (pa)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39903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C62828"/>
                </a:solidFill>
              </a:rPr>
              <a:t>55.67%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737360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Base: whisper-large-v3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066543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Dataset: FLEURS pa_in (~2,500)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395727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Steps: 3000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724911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71.6% → 61.3% → 56.7% (train)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3054095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Eval WER: 55.67% vs baseline 105.79%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60520" y="1325880"/>
            <a:ext cx="3657600" cy="2514600"/>
          </a:xfrm>
          <a:prstGeom prst="rect">
            <a:avLst/>
          </a:prstGeom>
          <a:solidFill>
            <a:srgbClr val="FFFFFF"/>
          </a:solidFill>
          <a:ln w="1524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0248" y="139903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97B"/>
                </a:solidFill>
              </a:rPr>
              <a:t>Urdu (ur)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139903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00897B"/>
                </a:solidFill>
              </a:rPr>
              <a:t>19.82%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0248" y="1737360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Base: whisper-large-v3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0248" y="2066543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Dataset: FLEURS ur_pk (2,109)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2395727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Steps: 1000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0248" y="2724911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24.44% baseline → 19.82% eval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0248" y="3054095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SeamlessM4T: 16.9%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1325880"/>
            <a:ext cx="3657600" cy="2514600"/>
          </a:xfrm>
          <a:prstGeom prst="rect">
            <a:avLst/>
          </a:prstGeom>
          <a:solidFill>
            <a:srgbClr val="FFFFFF"/>
          </a:solidFill>
          <a:ln w="1524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6448" y="139903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97B"/>
                </a:solidFill>
              </a:rPr>
              <a:t>Hindi (hi)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139903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00897B"/>
                </a:solidFill>
              </a:rPr>
              <a:t>19.78%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56448" y="1737360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Base: whisper-large-v3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56448" y="2066543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Dataset: FLEURS hi_in (2,120)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56448" y="2395727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Steps: 600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6448" y="2724911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30.29% baseline → 19.78% eval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56448" y="3054095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SeamlessM4T: 15.44%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977639"/>
            <a:ext cx="3657600" cy="2514600"/>
          </a:xfrm>
          <a:prstGeom prst="rect">
            <a:avLst/>
          </a:prstGeom>
          <a:solidFill>
            <a:srgbClr val="FFFFFF"/>
          </a:solidFill>
          <a:ln w="1524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4048" y="4050791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A1B9A"/>
                </a:solidFill>
              </a:rPr>
              <a:t>Pashto (ps)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51760" y="4050791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6A1B9A"/>
                </a:solidFill>
              </a:rPr>
              <a:t>38.55%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" y="4389120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Base: pashto-ghag-medium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" y="4718304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Dataset: FLEURS ps_af (~2,000)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" y="5047488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Steps: 2000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" y="5376672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94.23% baseline → 38.55% eval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" y="5705856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FT beats SeamlessM4T (44.4%)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60520" y="3977639"/>
            <a:ext cx="3657600" cy="2514600"/>
          </a:xfrm>
          <a:prstGeom prst="rect">
            <a:avLst/>
          </a:prstGeom>
          <a:solidFill>
            <a:srgbClr val="FFFFFF"/>
          </a:solidFill>
          <a:ln w="1524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70248" y="4050791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A1B9A"/>
                </a:solidFill>
              </a:rPr>
              <a:t>Nepali (ne)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4050791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6A1B9A"/>
                </a:solidFill>
              </a:rPr>
              <a:t>49.24%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70248" y="4389120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Base: whisper-large-v3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4718304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Dataset: FLEURS ne_np (3,332)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70248" y="5047488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Steps: 2000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70248" y="5376672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94.55% baseline → 49.24% eval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70248" y="5705856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SeamlessM4T: 28.46%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46720" y="3977639"/>
            <a:ext cx="3657600" cy="2514600"/>
          </a:xfrm>
          <a:prstGeom prst="rect">
            <a:avLst/>
          </a:prstGeom>
          <a:solidFill>
            <a:srgbClr val="FFFFFF"/>
          </a:solidFill>
          <a:ln w="1524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56448" y="4050791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97B"/>
                </a:solidFill>
              </a:rPr>
              <a:t>Mandarin (zh)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24160" y="4050791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00897B"/>
                </a:solidFill>
              </a:rPr>
              <a:t>16.03%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56448" y="4389120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Base: whisper-large-v3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56448" y="4718304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Dataset: FLEURS cmn_hans (3,246)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56448" y="5047488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Steps: 400 (best)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56448" y="5376672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100.03% baseline → 16.03% eval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56448" y="5705856"/>
            <a:ext cx="3429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• FT beats SeamlessM4T (100% WER norm issue)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41248"/>
            <a:ext cx="12188952" cy="457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2194560" cy="2743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2860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PIPELINE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94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12121"/>
                </a:solidFill>
              </a:rPr>
              <a:t>VANI 10-Stage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70432"/>
            <a:ext cx="11430000" cy="228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116128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325880"/>
            <a:ext cx="54864" cy="393192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3898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695C"/>
                </a:solidFill>
              </a:rPr>
              <a:t>Stage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38988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</a:rPr>
              <a:t>VAD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138988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Silero — detect speech segments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737360"/>
            <a:ext cx="11612880" cy="393192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1737360"/>
            <a:ext cx="54864" cy="393192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180136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695C"/>
                </a:solidFill>
              </a:rPr>
              <a:t>Stage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18013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</a:rPr>
              <a:t>Preprocessing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180136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Bandpass 300–3400 Hz + noise reduction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148840"/>
            <a:ext cx="116128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2148840"/>
            <a:ext cx="54864" cy="393192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221284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A1B9A"/>
                </a:solidFill>
              </a:rPr>
              <a:t>Stage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22128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</a:rPr>
              <a:t>MMS-LID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221284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256-language ID — routes to correct model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560320"/>
            <a:ext cx="11612880" cy="393192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2560320"/>
            <a:ext cx="54864" cy="393192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26243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A1B9A"/>
                </a:solidFill>
              </a:rPr>
              <a:t>Stage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26243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</a:rPr>
              <a:t>ASR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262432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Language-specific fine-tuned Whisper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971800"/>
            <a:ext cx="116128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" y="2971800"/>
            <a:ext cx="54864" cy="393192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303580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A1B9A"/>
                </a:solidFill>
              </a:rPr>
              <a:t>Stage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303580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</a:rPr>
              <a:t>Script Cascade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6120" y="303580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Arabic-script override for Urdu/Kashmiri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383280"/>
            <a:ext cx="11612880" cy="393192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3383280"/>
            <a:ext cx="54864" cy="39319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344728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897B"/>
                </a:solidFill>
              </a:rPr>
              <a:t>Stage 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34440" y="344728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</a:rPr>
              <a:t>Translation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344728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NLLB-200 → English (or direct for Punjabi)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3794760"/>
            <a:ext cx="116128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4320" y="3794760"/>
            <a:ext cx="54864" cy="39319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385876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897B"/>
                </a:solidFill>
              </a:rPr>
              <a:t>Stage 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38587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</a:rPr>
              <a:t>Diarization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46120" y="385876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Speaker separation (up to 4 speakers)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4206240"/>
            <a:ext cx="11612880" cy="393192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74320" y="4206240"/>
            <a:ext cx="54864" cy="393192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427024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897B"/>
                </a:solidFill>
              </a:rPr>
              <a:t>Stage 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34440" y="42702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</a:rPr>
              <a:t>Keywords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46120" y="427024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Multilingual keyword/entity detection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4617720"/>
            <a:ext cx="11612880" cy="393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4320" y="4617720"/>
            <a:ext cx="54864" cy="393192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46817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695C"/>
                </a:solidFill>
              </a:rPr>
              <a:t>Stage 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34440" y="4681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</a:rPr>
              <a:t>ISUM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46120" y="468172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Gemma 3:12B — 5W intelligence summary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5029200"/>
            <a:ext cx="11612880" cy="393192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74320" y="5029200"/>
            <a:ext cx="54864" cy="393192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1480" y="509320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695C"/>
                </a:solidFill>
              </a:rPr>
              <a:t>Stage 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34440" y="509320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</a:rPr>
              <a:t>Database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46120" y="5093208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SQLite + JSON export + Streamlit UI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41248"/>
            <a:ext cx="12188952" cy="457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2194560" cy="2743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2860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KEY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94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12121"/>
                </a:solidFill>
              </a:rPr>
              <a:t>Key Findings &amp; Technical Insights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70432"/>
            <a:ext cx="11430000" cy="228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98448"/>
            <a:ext cx="502920" cy="7772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8132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F5F5"/>
                </a:solidFill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98448"/>
            <a:ext cx="109728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344168"/>
            <a:ext cx="106984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A1B9A"/>
                </a:solidFill>
              </a:rPr>
              <a:t>LoRA r=8 is Sufficient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645919"/>
            <a:ext cx="10698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Only 0.25% of parameters trained yet WER drops 20–52 pp across all languages. Full fine-tuning is unnecessary and would require 40+ GB VRAM.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185415"/>
            <a:ext cx="502920" cy="7772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368296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F5F5"/>
                </a:solidFill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185415"/>
            <a:ext cx="109728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2231135"/>
            <a:ext cx="106984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97B"/>
                </a:solidFill>
              </a:rPr>
              <a:t>FLEURS Generalises to Military Domain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532887"/>
            <a:ext cx="10698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Despite no military-domain audio in training, fine-tuning on FLEURS speech dramatically improves VANI accuracy — domain transfer is real.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072383"/>
            <a:ext cx="502920" cy="77724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255263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F5F5"/>
                </a:solidFill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72383"/>
            <a:ext cx="109728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118103"/>
            <a:ext cx="106984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95C"/>
                </a:solidFill>
              </a:rPr>
              <a:t>MMS-LID is Critical for Punjabi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419855"/>
            <a:ext cx="10698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Whisper and FastText both misidentify Punjabi as Hindi. MMS-LID correctly identifies Punjabi with &gt;0.99 confidence, enabling the pa-override rule.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959351"/>
            <a:ext cx="502920" cy="7772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414223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F5F5"/>
                </a:solidFill>
              </a:rPr>
              <a:t>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959351"/>
            <a:ext cx="109728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4005071"/>
            <a:ext cx="106984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</a:rPr>
              <a:t>fp16 Instability at Low LR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306823"/>
            <a:ext cx="10698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Mandarin training diverged at step ~820 (grad_norm=12.9). Fix: max_grad_norm=0.5 applied to Hindi and all subsequent languages — no recurrence.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846319"/>
            <a:ext cx="502920" cy="7772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502919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F5F5"/>
                </a:solidFill>
              </a:rPr>
              <a:t>05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846319"/>
            <a:ext cx="109728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4892039"/>
            <a:ext cx="106984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A1B9A"/>
                </a:solidFill>
              </a:rPr>
              <a:t>Script-Cascade Prevents Misidentification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193791"/>
            <a:ext cx="10698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Arabic-script detection (&gt;20% Nastaliq chars in transcript) catches Urdu even when MMS-LID confidence is below threshold — critical for noisy radio.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733287"/>
            <a:ext cx="502920" cy="7772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5916167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F5F5"/>
                </a:solidFill>
              </a:rPr>
              <a:t>06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733287"/>
            <a:ext cx="109728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5779007"/>
            <a:ext cx="106984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</a:rPr>
              <a:t>CT2 Tokenizer Bug — All Large-v3 Models Translated Instead of Transcribed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6080759"/>
            <a:ext cx="10698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ct2-transformers-converter omits tokenizer.json. Whisper-tiny fallback has transcribe=50359 but large-v3 has translate=50359. Every transcribe call was secretly translate. Fix: copy tokenizer.json from adapter dir into CT2 dir. Now automated in finetune_whisper.py.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41248"/>
            <a:ext cx="12188952" cy="457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201168"/>
            <a:ext cx="2194560" cy="27432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2860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94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12121"/>
                </a:solidFill>
              </a:rPr>
              <a:t>Deployment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70432"/>
            <a:ext cx="11430000" cy="228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8016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A1B9A"/>
                </a:solidFill>
              </a:rPr>
              <a:t>Deployed Models (CT2 int8)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54864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45720" cy="36576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4650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whisper-large-v3-pa-ct2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465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Punjabi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1746504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C62828"/>
                </a:solidFill>
              </a:rPr>
              <a:t>61.3%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075688"/>
            <a:ext cx="54864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075688"/>
            <a:ext cx="45720" cy="3657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13055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whisper-medium-pashto-ct2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1305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Pashto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13055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6A1B9A"/>
                </a:solidFill>
              </a:rPr>
              <a:t>38.9%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459736"/>
            <a:ext cx="54864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2459736"/>
            <a:ext cx="45720" cy="36576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51460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whisper-large-v3-ur-ct2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51460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Urdu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2514600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897B"/>
                </a:solidFill>
              </a:rPr>
              <a:t>22.3%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843784"/>
            <a:ext cx="54864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2843784"/>
            <a:ext cx="45720" cy="3657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289864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whisper-large-v3-ne-ct2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28986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Nepali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289864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6A1B9A"/>
                </a:solidFill>
              </a:rPr>
              <a:t>54.3%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227832"/>
            <a:ext cx="54864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3227832"/>
            <a:ext cx="45720" cy="36576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28269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whisper-large-v3-zh-ct2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39" y="328269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Mandarin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3282696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897B"/>
                </a:solidFill>
              </a:rPr>
              <a:t> 8.97%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611879"/>
            <a:ext cx="54864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611879"/>
            <a:ext cx="45720" cy="36576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366674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whisper-large-v3-hi-ct2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49039" y="36667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Hindi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3666744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897B"/>
                </a:solidFill>
              </a:rPr>
              <a:t>23.1%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995928"/>
            <a:ext cx="54864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5760" y="3995928"/>
            <a:ext cx="45720" cy="36576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050791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</a:rPr>
              <a:t>whisper-large-v3-ks-ct2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49039" y="4050791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Kashmiri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4050791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555555"/>
                </a:solidFill>
              </a:rPr>
              <a:t>N/A†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1280160"/>
            <a:ext cx="539496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138988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A1B9A"/>
                </a:solidFill>
              </a:rPr>
              <a:t>Runtime Specifications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0" y="1847088"/>
            <a:ext cx="5212080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92240" y="190195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Inference engine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0" y="190195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faster-whisper (CT2)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0" y="2231136"/>
            <a:ext cx="5212080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92240" y="228600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Quantization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03920" y="228600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int8 (CPU + GPU)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0" y="2615184"/>
            <a:ext cx="5212080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9224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Device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03920" y="2670048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CUDA (RTX 5060 8 GB)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0" y="2999232"/>
            <a:ext cx="5212080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92240" y="3054096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Translation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03920" y="3054096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NLLB-200 distilled 600M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0800" y="3383279"/>
            <a:ext cx="5212080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92240" y="343814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LangID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3438144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MMS-LID 256-lang + FastText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3767328"/>
            <a:ext cx="5212080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92240" y="3822191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ISUM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03920" y="3822191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Gemma 3:12B via Ollama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00800" y="4151376"/>
            <a:ext cx="5212080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92240" y="420624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Storage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420624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SQLite + JSON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0" y="4535424"/>
            <a:ext cx="5212080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92240" y="459028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Interface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03920" y="4590288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Streamlit web UI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00800" y="4919472"/>
            <a:ext cx="5212080" cy="36576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92240" y="4974336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Network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503920" y="4974336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100% offline — no internet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63093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Total deployed model storage: ~10.1 GB   |   Lab upgrade: change device: cuda in config.yaml   |   †Kashmiri: eval_loss metric (no vocab token)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73152" cy="6711696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55555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12121"/>
                </a:solidFill>
              </a:rPr>
              <a:t>Summary &amp; Next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0972800" cy="228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35661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3566160" cy="54864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4475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97B"/>
                </a:solidFill>
              </a:rPr>
              <a:t>7 Languages Fine-Tuned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856231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pa · ps · ur · ne · zh · hi · ks
All deployed as CT2 int8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325880"/>
            <a:ext cx="35661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1325880"/>
            <a:ext cx="3566160" cy="54864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44475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A1B9A"/>
                </a:solidFill>
              </a:rPr>
              <a:t>Best Eval WER: 16.03% (Mandarin)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1856231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Urdu 19.82%  ·  Hindi 19.78%
Beat SeamlessM4T on Pashto &amp; Mandarin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55279" y="1325880"/>
            <a:ext cx="35661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1325880"/>
            <a:ext cx="3566160" cy="54864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144475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0.25% Params Trained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1856231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LoRA r=8 is sufficient
No full fine-tune needed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971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6A1B9A"/>
                </a:solidFill>
              </a:rPr>
              <a:t>Next Steps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401568"/>
            <a:ext cx="10972800" cy="228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547872"/>
            <a:ext cx="112471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547872"/>
            <a:ext cx="45720" cy="475488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60273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Kashmiri (ks)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3602736"/>
            <a:ext cx="9052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Done — IndicVoices 20k, 1500 steps, eval_loss=0.936; CT2 deployed; qualitative eval with native audio pending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069080"/>
            <a:ext cx="112471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069080"/>
            <a:ext cx="45720" cy="475488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1239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Reduce WER &lt;25%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4123944"/>
            <a:ext cx="9052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Target: all 6 main languages below 25% WER — more steps, more data, or SeamlessM4T fine-tune comparison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590288"/>
            <a:ext cx="112471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590288"/>
            <a:ext cx="45720" cy="475488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6451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Fine-tune SM4T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06040" y="4645152"/>
            <a:ext cx="9052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Fine-tune SeamlessM4T on same FLEURS data — compare transcription + translation against fine-tuned Whisper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111496"/>
            <a:ext cx="112471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5111496"/>
            <a:ext cx="45720" cy="475488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1663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Robustness Eval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40" y="5166360"/>
            <a:ext cx="9052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8 audio degradation conditions (bandpass, AWGN 0–20 dB, PTT clip, MP3 codec)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632704"/>
            <a:ext cx="112471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5632704"/>
            <a:ext cx="45720" cy="475488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68756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Paper Submission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06040" y="5687568"/>
            <a:ext cx="9052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</a:rPr>
              <a:t>VANI paper targeting IJAINN / SLT 2026 — include cross-model eval and SM4T fine-tune comparison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VANI v2  ·  M.Tech Research  ·  IIT Indore  · 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