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56032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 i="0">
                <a:solidFill>
                  <a:srgbClr val="FFFFFF"/>
                </a:solidFill>
              </a:rPr>
              <a:t>VANI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CCE8E5"/>
                </a:solidFill>
              </a:rPr>
              <a:t>Voice Analysis &amp; Neural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26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0695C"/>
                </a:solidFill>
              </a:rPr>
              <a:t>Whisper Fine-Tuning Report</a:t>
            </a:r>
          </a:p>
        </p:txBody>
      </p:sp>
      <p:sp>
        <p:nvSpPr>
          <p:cNvPr id="7" name="Rectangle 6"/>
          <p:cNvSpPr/>
          <p:nvPr/>
        </p:nvSpPr>
        <p:spPr>
          <a:xfrm>
            <a:off x="3813048" y="3584448"/>
            <a:ext cx="4572000" cy="2286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70332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555555"/>
                </a:solidFill>
              </a:rPr>
              <a:t>LoRA Adaptation for 6 Border-Region Languages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572000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555555"/>
                </a:solidFill>
              </a:rPr>
              <a:t>M.Tech Research Project  ·  IIT Indore  ·  June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9834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99999"/>
                </a:solidFill>
              </a:rPr>
              <a:t>Hardware: NVIDIA RTX 5060 8 GB  ·  Windows 11  ·  CUDA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55555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41248"/>
            <a:ext cx="12188952" cy="4572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01168"/>
            <a:ext cx="2194560" cy="27432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228600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BACKGROUND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55555"/>
                </a:solidFill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029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695C"/>
                </a:solidFill>
              </a:rPr>
              <a:t>Why Fine-Tune?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43000"/>
            <a:ext cx="11430000" cy="2286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280160"/>
            <a:ext cx="5303520" cy="4480560"/>
          </a:xfrm>
          <a:prstGeom prst="rect">
            <a:avLst/>
          </a:prstGeom>
          <a:solidFill>
            <a:srgbClr val="FFFFFF"/>
          </a:solidFill>
          <a:ln w="1905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280160"/>
            <a:ext cx="5303520" cy="347472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316736"/>
            <a:ext cx="4937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78308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</a:rPr>
              <a:t>▸  Baseline Whisper large-v3 WER
on Punjabi: ~75%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441448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</a:rPr>
              <a:t>▸  Urdu baseline WER: ~74%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099815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</a:rPr>
              <a:t>▸  Hindi baseline WER: ~75%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758183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</a:rPr>
              <a:t>▸  Radio intercept audio is noisy
&amp; domain-specific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416551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</a:rPr>
              <a:t>▸  Generic model not trained on
border-language acoustics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1280160"/>
            <a:ext cx="5394960" cy="44805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6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6480" y="1280160"/>
            <a:ext cx="5394960" cy="347472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1316736"/>
            <a:ext cx="51206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The Solution — LoRA Fine-Tuning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178308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</a:rPr>
              <a:t>▸  Adapt only 0.25% of parameters
(LoRA r=8, alpha=16)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244144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</a:rPr>
              <a:t>▸  Train on FLEURS speech corpus
(no military data needed)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3099815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</a:rPr>
              <a:t>▸  Keep base model frozen —
no catastrophic forgetting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3758183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</a:rPr>
              <a:t>▸  Export to int8 CT2 format
for fast offline inference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4416551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</a:rPr>
              <a:t>▸  Plug directly into VANI
10-stage pipeline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41248"/>
            <a:ext cx="12188952" cy="4572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01168"/>
            <a:ext cx="2194560" cy="27432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228600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55555"/>
                </a:solidFill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943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12121"/>
                </a:solidFill>
              </a:rPr>
              <a:t>LoRA Fine-Tuning Pipeline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11430000" cy="2286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554480"/>
            <a:ext cx="173736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6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572768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695C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011680"/>
            <a:ext cx="1737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12121"/>
                </a:solidFill>
              </a:rPr>
              <a:t>FLEURS
Dataset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79" y="192024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695C"/>
                </a:solidFill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04288" y="1554480"/>
            <a:ext cx="173736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6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04288" y="1572768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695C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04288" y="2011680"/>
            <a:ext cx="1737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12121"/>
                </a:solidFill>
              </a:rPr>
              <a:t>WhisperProcessor
Feature Extract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41648" y="192024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695C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34256" y="1554480"/>
            <a:ext cx="173736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34256" y="1572768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6A1B9A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34256" y="2011680"/>
            <a:ext cx="1737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12121"/>
                </a:solidFill>
              </a:rPr>
              <a:t>LoRA Adapter
r=8, q+v proj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71616" y="192024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695C"/>
                </a:solidFill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64224" y="1554480"/>
            <a:ext cx="173736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64224" y="1572768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6A1B9A"/>
                </a:solidFill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64224" y="2011680"/>
            <a:ext cx="1737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12121"/>
                </a:solidFill>
              </a:rPr>
              <a:t>Seq2Seq
Trainer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01584" y="192024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695C"/>
                </a:solidFill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394192" y="1554480"/>
            <a:ext cx="173736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94192" y="1572768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897B"/>
                </a:solidFill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94192" y="2011680"/>
            <a:ext cx="1737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12121"/>
                </a:solidFill>
              </a:rPr>
              <a:t>Merge &amp;
Convert CT2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31552" y="192024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695C"/>
                </a:solidFill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424160" y="1554480"/>
            <a:ext cx="173736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424160" y="1572768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897B"/>
                </a:solidFill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24160" y="2011680"/>
            <a:ext cx="1737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12121"/>
                </a:solidFill>
              </a:rPr>
              <a:t>VANI
Deployment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3017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6A1B9A"/>
                </a:solidFill>
              </a:rPr>
              <a:t>LoRA Configuration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3456432"/>
            <a:ext cx="53035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3502151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LoRA Rank (r)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17520" y="3502151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12121"/>
                </a:solidFill>
              </a:rPr>
              <a:t>8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3822191"/>
            <a:ext cx="53035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3867911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LoRA Alpha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017520" y="3867911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12121"/>
                </a:solidFill>
              </a:rPr>
              <a:t>16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4187952"/>
            <a:ext cx="53035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423367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Target Modules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017520" y="423367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12121"/>
                </a:solidFill>
              </a:rPr>
              <a:t>q_proj, v_proj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4553712"/>
            <a:ext cx="53035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459943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Trainable Params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017520" y="459943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12121"/>
                </a:solidFill>
              </a:rPr>
              <a:t>~3.9M / 1.55B (0.25%)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0" y="4919472"/>
            <a:ext cx="53035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7200" y="496519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Learning Rate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017520" y="496519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12121"/>
                </a:solidFill>
              </a:rPr>
              <a:t>5×10⁻⁵ with warmup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5285232"/>
            <a:ext cx="53035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7200" y="533095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Quantization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017520" y="533095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12121"/>
                </a:solidFill>
              </a:rPr>
              <a:t>int8 via CTranslate2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126480" y="30175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6A1B9A"/>
                </a:solidFill>
              </a:rPr>
              <a:t>Training Notes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26480" y="342900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▸  Batch size 2, no gradient accumulation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126480" y="376732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▸  Early stopping: patience = 3 evals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126480" y="4105656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▸  Eval metric: Word Error Rate (WER)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26480" y="4443984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▸  Best checkpoint auto-selected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126480" y="478231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▸  Windows 11 CUDA — no torchcodec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126480" y="512064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▸  fp16 training, float32 eval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41248"/>
            <a:ext cx="12188952" cy="4572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01168"/>
            <a:ext cx="2194560" cy="27432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228600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55555"/>
                </a:solidFill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943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12121"/>
                </a:solidFill>
              </a:rPr>
              <a:t>Fine-Tuning Results — All 7 Languages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11430000" cy="2286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325880"/>
            <a:ext cx="11612880" cy="347472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3716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Language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13716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Script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13716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Base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0" y="13716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Dataset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0" y="13716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Steps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13716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Best WER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20" y="13716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Size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1691640"/>
            <a:ext cx="1161288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1728216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Punjabi  (pa)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1728216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Gurmukhi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1728216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large-v3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0" y="1728216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FLEURS pa_in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0" y="1728216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3000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1728216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62828"/>
                </a:solidFill>
              </a:rPr>
              <a:t>55.67%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2720" y="1728216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1479 MB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2020824"/>
            <a:ext cx="11612880" cy="320040"/>
          </a:xfrm>
          <a:prstGeom prst="rect">
            <a:avLst/>
          </a:prstGeom>
          <a:solidFill>
            <a:srgbClr val="F3E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560" y="205740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Pashto   (ps)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205740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Nastaliq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0" y="205740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medium-pashto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0" y="205740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FLEURS ps_af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0" y="205740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2000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05740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A1B9A"/>
                </a:solidFill>
              </a:rPr>
              <a:t>38.55%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32720" y="205740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 734 MB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2350008"/>
            <a:ext cx="1161288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2386584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Urdu     (ur)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0" y="2386584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Nastaliq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0" y="2386584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large-v3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0" y="2386584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FLEURS ur_pk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89520" y="2386584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1000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386584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897B"/>
                </a:solidFill>
              </a:rPr>
              <a:t>19.82%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332720" y="2386584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1479 MB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2679191"/>
            <a:ext cx="11612880" cy="320040"/>
          </a:xfrm>
          <a:prstGeom prst="rect">
            <a:avLst/>
          </a:prstGeom>
          <a:solidFill>
            <a:srgbClr val="F3E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51560" y="2715768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Nepali   (ne)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43200" y="2715768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Devanagari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14800" y="2715768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large-v3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69280" y="2715768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FLEURS ne_np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589520" y="2715768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2000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44000" y="2715768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A1B9A"/>
                </a:solidFill>
              </a:rPr>
              <a:t>49.24%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332720" y="2715768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1479 MB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74320" y="3008375"/>
            <a:ext cx="1161288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51560" y="3044951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Mandarin (zh)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743200" y="3044951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Simplified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114800" y="3044951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large-v3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669280" y="3044951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FLEURS cmn_hans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589520" y="3044951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 400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144000" y="3044951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897B"/>
                </a:solidFill>
              </a:rPr>
              <a:t>16.03%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332720" y="3044951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1479 MB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74320" y="3337559"/>
            <a:ext cx="11612880" cy="320040"/>
          </a:xfrm>
          <a:prstGeom prst="rect">
            <a:avLst/>
          </a:prstGeom>
          <a:solidFill>
            <a:srgbClr val="F3E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51560" y="3374135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Hindi    (hi)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743200" y="3374135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Devanagari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114800" y="3374135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large-v3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669280" y="3374135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FLEURS hi_in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589520" y="3374135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 600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44000" y="3374135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897B"/>
                </a:solidFill>
              </a:rPr>
              <a:t>19.78%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332720" y="3374135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1479 MB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74320" y="3666744"/>
            <a:ext cx="1161288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51560" y="370332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Kashmiri (ks)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743200" y="370332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Nastaliq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114800" y="370332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large-v3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669280" y="370332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IndicVoices 20k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589520" y="370332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1500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144000" y="370332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55555"/>
                </a:solidFill>
              </a:rPr>
              <a:t>N/A†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332720" y="370332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1479 MB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65760" y="635508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Eval WER: 100-sample FLEURS test (FLEURS) / IndicVoices val (ks)  ·  Baseline was turbo model  ·  † Kashmiri: ur-proxy, eval_loss=0.936 at ckpt-1500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41248"/>
            <a:ext cx="12188952" cy="4572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01168"/>
            <a:ext cx="2194560" cy="27432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228600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WER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55555"/>
                </a:solidFill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943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12121"/>
                </a:solidFill>
              </a:rPr>
              <a:t>Word Error Rate — Fine-Tuned vs Baseline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11430000" cy="2286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14600" y="13258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AAAAAA"/>
                </a:solidFill>
              </a:rPr>
              <a:t>Baseline WER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600" y="15087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897B"/>
                </a:solidFill>
              </a:rPr>
              <a:t>Fine-Tuned WER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78308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212121"/>
                </a:solidFill>
              </a:rPr>
              <a:t>Mandarin (zh)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68880" y="1783080"/>
            <a:ext cx="4573371" cy="128016"/>
          </a:xfrm>
          <a:prstGeom prst="rect">
            <a:avLst/>
          </a:prstGeom>
          <a:solidFill>
            <a:srgbClr val="5555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468880" y="1920240"/>
            <a:ext cx="732891" cy="128016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87971" y="1783080"/>
            <a:ext cx="7315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</a:rPr>
              <a:t>100.03%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7491" y="1920240"/>
            <a:ext cx="7315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897B"/>
                </a:solidFill>
              </a:rPr>
              <a:t>16.03%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246888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212121"/>
                </a:solidFill>
              </a:rPr>
              <a:t>Urdu (ur)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468880" y="2468880"/>
            <a:ext cx="1117396" cy="128016"/>
          </a:xfrm>
          <a:prstGeom prst="rect">
            <a:avLst/>
          </a:prstGeom>
          <a:solidFill>
            <a:srgbClr val="5555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468880" y="2606040"/>
            <a:ext cx="906170" cy="128016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31996" y="2468880"/>
            <a:ext cx="7315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</a:rPr>
              <a:t>24.44%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0770" y="2606040"/>
            <a:ext cx="7315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897B"/>
                </a:solidFill>
              </a:rPr>
              <a:t>19.82%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315468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212121"/>
                </a:solidFill>
              </a:rPr>
              <a:t>Hindi (hi)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468880" y="3154680"/>
            <a:ext cx="1384858" cy="128016"/>
          </a:xfrm>
          <a:prstGeom prst="rect">
            <a:avLst/>
          </a:prstGeom>
          <a:solidFill>
            <a:srgbClr val="5555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468880" y="3291840"/>
            <a:ext cx="904341" cy="128016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99458" y="3154680"/>
            <a:ext cx="7315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</a:rPr>
              <a:t>30.29%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18941" y="3291840"/>
            <a:ext cx="7315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897B"/>
                </a:solidFill>
              </a:rPr>
              <a:t>19.78%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" y="384048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212121"/>
                </a:solidFill>
              </a:rPr>
              <a:t>Pashto (ps)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468880" y="3840480"/>
            <a:ext cx="4308195" cy="128016"/>
          </a:xfrm>
          <a:prstGeom prst="rect">
            <a:avLst/>
          </a:prstGeom>
          <a:solidFill>
            <a:srgbClr val="5555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468880" y="3977640"/>
            <a:ext cx="1762506" cy="128016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22795" y="3840480"/>
            <a:ext cx="7315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</a:rPr>
              <a:t>94.23%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77106" y="3977640"/>
            <a:ext cx="7315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A1B9A"/>
                </a:solidFill>
              </a:rPr>
              <a:t>38.55%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" y="452628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212121"/>
                </a:solidFill>
              </a:rPr>
              <a:t>Nepali (ne)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468880" y="4526280"/>
            <a:ext cx="4322826" cy="128016"/>
          </a:xfrm>
          <a:prstGeom prst="rect">
            <a:avLst/>
          </a:prstGeom>
          <a:solidFill>
            <a:srgbClr val="5555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468880" y="4663440"/>
            <a:ext cx="2251252" cy="128016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37426" y="4526280"/>
            <a:ext cx="7315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</a:rPr>
              <a:t>94.55%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65852" y="4663440"/>
            <a:ext cx="7315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A1B9A"/>
                </a:solidFill>
              </a:rPr>
              <a:t>49.24%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" y="521208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212121"/>
                </a:solidFill>
              </a:rPr>
              <a:t>Punjabi (pa)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468880" y="5212080"/>
            <a:ext cx="4836718" cy="128016"/>
          </a:xfrm>
          <a:prstGeom prst="rect">
            <a:avLst/>
          </a:prstGeom>
          <a:solidFill>
            <a:srgbClr val="5555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468880" y="5349240"/>
            <a:ext cx="2545232" cy="128016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51318" y="5212080"/>
            <a:ext cx="7315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</a:rPr>
              <a:t>105.79%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59832" y="5349240"/>
            <a:ext cx="7315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62828"/>
                </a:solidFill>
              </a:rPr>
              <a:t>55.67%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589520" y="1417320"/>
            <a:ext cx="420624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6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72400" y="1508760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A1B9A"/>
                </a:solidFill>
              </a:rPr>
              <a:t>Improvement Summary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680960" y="1965960"/>
            <a:ext cx="3931920" cy="530352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772400" y="2002536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12121"/>
                </a:solidFill>
              </a:rPr>
              <a:t>Mandarin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78240" y="2002536"/>
            <a:ext cx="1645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100% → 16.0%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424160" y="2002536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00897B"/>
                </a:solidFill>
              </a:rPr>
              <a:t>-84.0 pp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680960" y="2542032"/>
            <a:ext cx="3931920" cy="530352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772400" y="2578608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12121"/>
                </a:solidFill>
              </a:rPr>
              <a:t>Pashto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78240" y="2578608"/>
            <a:ext cx="1645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94% → 38.6%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424160" y="2578608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00897B"/>
                </a:solidFill>
              </a:rPr>
              <a:t>-55.7 pp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680960" y="3118103"/>
            <a:ext cx="3931920" cy="530352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772400" y="3154679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12121"/>
                </a:solidFill>
              </a:rPr>
              <a:t>Punjabi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778240" y="3154679"/>
            <a:ext cx="1645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106% → 55.7%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424160" y="3154679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00897B"/>
                </a:solidFill>
              </a:rPr>
              <a:t>-50.1 pp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680960" y="3694176"/>
            <a:ext cx="3931920" cy="530352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772400" y="3730752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12121"/>
                </a:solidFill>
              </a:rPr>
              <a:t>Nepali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778240" y="3730752"/>
            <a:ext cx="1645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95% → 49.2%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424160" y="3730752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00897B"/>
                </a:solidFill>
              </a:rPr>
              <a:t>-45.3 pp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680960" y="4270248"/>
            <a:ext cx="3931920" cy="530352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772400" y="4306824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12121"/>
                </a:solidFill>
              </a:rPr>
              <a:t>Hindi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778240" y="4306824"/>
            <a:ext cx="1645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30% → 19.8%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424160" y="4306824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00897B"/>
                </a:solidFill>
              </a:rPr>
              <a:t>-10.5 pp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680960" y="4846320"/>
            <a:ext cx="3931920" cy="530352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772400" y="4882896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12121"/>
                </a:solidFill>
              </a:rPr>
              <a:t>Urdu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778240" y="4882896"/>
            <a:ext cx="1645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24% → 19.8%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424160" y="4882896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00897B"/>
                </a:solidFill>
              </a:rPr>
              <a:t>-4.6 pp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41248"/>
            <a:ext cx="12188952" cy="4572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01168"/>
            <a:ext cx="2194560" cy="27432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228600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LANGUAGE DEEP-DIVE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55555"/>
                </a:solidFill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943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12121"/>
                </a:solidFill>
              </a:rPr>
              <a:t>Per-Language WER Progression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70432"/>
            <a:ext cx="11430000" cy="2286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325880"/>
            <a:ext cx="3657600" cy="2514600"/>
          </a:xfrm>
          <a:prstGeom prst="rect">
            <a:avLst/>
          </a:prstGeom>
          <a:solidFill>
            <a:srgbClr val="FFFFFF"/>
          </a:solidFill>
          <a:ln w="1524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1399032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62828"/>
                </a:solidFill>
              </a:rPr>
              <a:t>Punjabi (pa)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1399032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C62828"/>
                </a:solidFill>
              </a:rPr>
              <a:t>55.67%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1737360"/>
            <a:ext cx="3429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• Base: whisper-large-v3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2066543"/>
            <a:ext cx="3429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• Dataset: FLEURS pa_in (~2,500)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2395727"/>
            <a:ext cx="3429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• Steps: 3000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2724911"/>
            <a:ext cx="3429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• 71.6% → 61.3% → 56.7% (train)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3054095"/>
            <a:ext cx="3429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• Eval WER: 55.67% vs baseline 105.79%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60520" y="1325880"/>
            <a:ext cx="3657600" cy="2514600"/>
          </a:xfrm>
          <a:prstGeom prst="rect">
            <a:avLst/>
          </a:prstGeom>
          <a:solidFill>
            <a:srgbClr val="FFFFFF"/>
          </a:solidFill>
          <a:ln w="1524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70248" y="1399032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897B"/>
                </a:solidFill>
              </a:rPr>
              <a:t>Urdu (ur)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1399032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00897B"/>
                </a:solidFill>
              </a:rPr>
              <a:t>19.82%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70248" y="1737360"/>
            <a:ext cx="3429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• Base: whisper-large-v3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70248" y="2066543"/>
            <a:ext cx="3429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• Dataset: FLEURS ur_pk (2,109)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70248" y="2395727"/>
            <a:ext cx="3429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• Steps: 1000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70248" y="2724911"/>
            <a:ext cx="3429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• 24.44% baseline → 19.82% eval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70248" y="3054095"/>
            <a:ext cx="3429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• SeamlessM4T: 16.9%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46720" y="1325880"/>
            <a:ext cx="3657600" cy="2514600"/>
          </a:xfrm>
          <a:prstGeom prst="rect">
            <a:avLst/>
          </a:prstGeom>
          <a:solidFill>
            <a:srgbClr val="FFFFFF"/>
          </a:solidFill>
          <a:ln w="1524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56448" y="1399032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897B"/>
                </a:solidFill>
              </a:rPr>
              <a:t>Hindi (hi)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24160" y="1399032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00897B"/>
                </a:solidFill>
              </a:rPr>
              <a:t>19.78%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56448" y="1737360"/>
            <a:ext cx="3429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• Base: whisper-large-v3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56448" y="2066543"/>
            <a:ext cx="3429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• Dataset: FLEURS hi_in (2,120)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56448" y="2395727"/>
            <a:ext cx="3429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• Steps: 600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56448" y="2724911"/>
            <a:ext cx="3429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• 30.29% baseline → 19.78% eval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56448" y="3054095"/>
            <a:ext cx="3429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• SeamlessM4T: 15.44%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3977639"/>
            <a:ext cx="3657600" cy="2514600"/>
          </a:xfrm>
          <a:prstGeom prst="rect">
            <a:avLst/>
          </a:prstGeom>
          <a:solidFill>
            <a:srgbClr val="FFFFFF"/>
          </a:solidFill>
          <a:ln w="1524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84048" y="4050791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A1B9A"/>
                </a:solidFill>
              </a:rPr>
              <a:t>Pashto (ps)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51760" y="4050791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6A1B9A"/>
                </a:solidFill>
              </a:rPr>
              <a:t>38.55%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4048" y="4389120"/>
            <a:ext cx="3429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• Base: pashto-ghag-medium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4048" y="4718304"/>
            <a:ext cx="3429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• Dataset: FLEURS ps_af (~2,000)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4048" y="5047488"/>
            <a:ext cx="3429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• Steps: 2000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4048" y="5376672"/>
            <a:ext cx="3429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• 94.23% baseline → 38.55% eval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4048" y="5705856"/>
            <a:ext cx="3429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• FT beats SeamlessM4T (44.4%)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160520" y="3977639"/>
            <a:ext cx="3657600" cy="2514600"/>
          </a:xfrm>
          <a:prstGeom prst="rect">
            <a:avLst/>
          </a:prstGeom>
          <a:solidFill>
            <a:srgbClr val="FFFFFF"/>
          </a:solidFill>
          <a:ln w="1524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70248" y="4050791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A1B9A"/>
                </a:solidFill>
              </a:rPr>
              <a:t>Nepali (ne)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37960" y="4050791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6A1B9A"/>
                </a:solidFill>
              </a:rPr>
              <a:t>49.24%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70248" y="4389120"/>
            <a:ext cx="3429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• Base: whisper-large-v3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70248" y="4718304"/>
            <a:ext cx="3429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• Dataset: FLEURS ne_np (3,332)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70248" y="5047488"/>
            <a:ext cx="3429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• Steps: 2000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270248" y="5376672"/>
            <a:ext cx="3429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• 94.55% baseline → 49.24% eval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270248" y="5705856"/>
            <a:ext cx="3429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• SeamlessM4T: 28.46%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046720" y="3977639"/>
            <a:ext cx="3657600" cy="2514600"/>
          </a:xfrm>
          <a:prstGeom prst="rect">
            <a:avLst/>
          </a:prstGeom>
          <a:solidFill>
            <a:srgbClr val="FFFFFF"/>
          </a:solidFill>
          <a:ln w="1524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156448" y="4050791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897B"/>
                </a:solidFill>
              </a:rPr>
              <a:t>Mandarin (zh)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424160" y="4050791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00897B"/>
                </a:solidFill>
              </a:rPr>
              <a:t>16.03%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156448" y="4389120"/>
            <a:ext cx="3429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• Base: whisper-large-v3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156448" y="4718304"/>
            <a:ext cx="3429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• Dataset: FLEURS cmn_hans (3,246)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156448" y="5047488"/>
            <a:ext cx="3429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• Steps: 400 (best)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156448" y="5376672"/>
            <a:ext cx="3429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• 100.03% baseline → 16.03% eval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56448" y="5705856"/>
            <a:ext cx="3429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• FT beats SeamlessM4T (100% WER norm issue)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41248"/>
            <a:ext cx="12188952" cy="4572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01168"/>
            <a:ext cx="2194560" cy="27432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228600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PIPELINE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55555"/>
                </a:solidFill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943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12121"/>
                </a:solidFill>
              </a:rPr>
              <a:t>VANI 10-Stage Pipeline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70432"/>
            <a:ext cx="11430000" cy="2286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325880"/>
            <a:ext cx="1161288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325880"/>
            <a:ext cx="54864" cy="393192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38988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695C"/>
                </a:solidFill>
              </a:rPr>
              <a:t>Stage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138988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12121"/>
                </a:solidFill>
              </a:rPr>
              <a:t>VAD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1389888"/>
            <a:ext cx="8503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Silero — detect speech segments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737360"/>
            <a:ext cx="11612880" cy="393192"/>
          </a:xfrm>
          <a:prstGeom prst="rect">
            <a:avLst/>
          </a:prstGeom>
          <a:solidFill>
            <a:srgbClr val="F3E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1737360"/>
            <a:ext cx="54864" cy="393192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180136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695C"/>
                </a:solidFill>
              </a:rPr>
              <a:t>Stage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180136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12121"/>
                </a:solidFill>
              </a:rPr>
              <a:t>Preprocessing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1801368"/>
            <a:ext cx="8503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Bandpass 300–3400 Hz + noise reduction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148840"/>
            <a:ext cx="1161288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2148840"/>
            <a:ext cx="54864" cy="393192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221284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A1B9A"/>
                </a:solidFill>
              </a:rPr>
              <a:t>Stage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221284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12121"/>
                </a:solidFill>
              </a:rPr>
              <a:t>MMS-LID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46120" y="2212848"/>
            <a:ext cx="8503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256-language ID — routes to correct model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2560320"/>
            <a:ext cx="11612880" cy="393192"/>
          </a:xfrm>
          <a:prstGeom prst="rect">
            <a:avLst/>
          </a:prstGeom>
          <a:solidFill>
            <a:srgbClr val="F3E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4320" y="2560320"/>
            <a:ext cx="54864" cy="393192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262432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A1B9A"/>
                </a:solidFill>
              </a:rPr>
              <a:t>Stage 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34440" y="262432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12121"/>
                </a:solidFill>
              </a:rPr>
              <a:t>ASR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46120" y="2624328"/>
            <a:ext cx="8503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Language-specific fine-tuned Whisper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2971800"/>
            <a:ext cx="1161288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74320" y="2971800"/>
            <a:ext cx="54864" cy="393192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" y="303580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A1B9A"/>
                </a:solidFill>
              </a:rPr>
              <a:t>Stage 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34440" y="303580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12121"/>
                </a:solidFill>
              </a:rPr>
              <a:t>Script Cascade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46120" y="3035808"/>
            <a:ext cx="8503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Arabic-script override for Urdu/Kashmiri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3383280"/>
            <a:ext cx="11612880" cy="393192"/>
          </a:xfrm>
          <a:prstGeom prst="rect">
            <a:avLst/>
          </a:prstGeom>
          <a:solidFill>
            <a:srgbClr val="F3E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74320" y="3383280"/>
            <a:ext cx="54864" cy="393192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480" y="344728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897B"/>
                </a:solidFill>
              </a:rPr>
              <a:t>Stage 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34440" y="344728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12121"/>
                </a:solidFill>
              </a:rPr>
              <a:t>Translation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46120" y="3447288"/>
            <a:ext cx="8503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NLLB-200 → English (or direct for Punjabi)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3794760"/>
            <a:ext cx="1161288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74320" y="3794760"/>
            <a:ext cx="54864" cy="393192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1480" y="385876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897B"/>
                </a:solidFill>
              </a:rPr>
              <a:t>Stage 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34440" y="385876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12121"/>
                </a:solidFill>
              </a:rPr>
              <a:t>Diarization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46120" y="3858768"/>
            <a:ext cx="8503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Speaker separation (up to 4 speakers)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74320" y="4206240"/>
            <a:ext cx="11612880" cy="393192"/>
          </a:xfrm>
          <a:prstGeom prst="rect">
            <a:avLst/>
          </a:prstGeom>
          <a:solidFill>
            <a:srgbClr val="F3E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274320" y="4206240"/>
            <a:ext cx="54864" cy="393192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11480" y="427024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897B"/>
                </a:solidFill>
              </a:rPr>
              <a:t>Stage 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234440" y="427024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12121"/>
                </a:solidFill>
              </a:rPr>
              <a:t>Keywords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246120" y="4270248"/>
            <a:ext cx="8503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Multilingual keyword/entity detection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74320" y="4617720"/>
            <a:ext cx="1161288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274320" y="4617720"/>
            <a:ext cx="54864" cy="393192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11480" y="468172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695C"/>
                </a:solidFill>
              </a:rPr>
              <a:t>Stage 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234440" y="468172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12121"/>
                </a:solidFill>
              </a:rPr>
              <a:t>ISUM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246120" y="4681728"/>
            <a:ext cx="8503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Gemma 3:12B — 5W intelligence summary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74320" y="5029200"/>
            <a:ext cx="11612880" cy="393192"/>
          </a:xfrm>
          <a:prstGeom prst="rect">
            <a:avLst/>
          </a:prstGeom>
          <a:solidFill>
            <a:srgbClr val="F3E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274320" y="5029200"/>
            <a:ext cx="54864" cy="393192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11480" y="509320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695C"/>
                </a:solidFill>
              </a:rPr>
              <a:t>Stage 10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34440" y="509320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12121"/>
                </a:solidFill>
              </a:rPr>
              <a:t>Database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246120" y="5093208"/>
            <a:ext cx="8503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SQLite + JSON export + Streamlit UI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41248"/>
            <a:ext cx="12188952" cy="4572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01168"/>
            <a:ext cx="2194560" cy="27432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228600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KEY FINDINGS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55555"/>
                </a:solidFill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943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12121"/>
                </a:solidFill>
              </a:rPr>
              <a:t>Key Findings &amp; Technical Insights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70432"/>
            <a:ext cx="11430000" cy="2286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298448"/>
            <a:ext cx="502920" cy="77724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481328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5F5F5"/>
                </a:solidFill>
              </a:rPr>
              <a:t>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298448"/>
            <a:ext cx="1097280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344168"/>
            <a:ext cx="106984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A1B9A"/>
                </a:solidFill>
              </a:rPr>
              <a:t>LoRA r=8 is Sufficient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1645919"/>
            <a:ext cx="10698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Only 0.25% of parameters trained yet WER drops 20–52 pp across all languages. Full fine-tuning is unnecessary and would require 40+ GB VRAM.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185415"/>
            <a:ext cx="502920" cy="77724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2368296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5F5F5"/>
                </a:solidFill>
              </a:rPr>
              <a:t>02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2185415"/>
            <a:ext cx="1097280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2231135"/>
            <a:ext cx="106984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897B"/>
                </a:solidFill>
              </a:rPr>
              <a:t>FLEURS Generalises to Military Domain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2532887"/>
            <a:ext cx="10698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Despite no military-domain audio in training, fine-tuning on FLEURS speech dramatically improves VANI accuracy — domain transfer is real.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072383"/>
            <a:ext cx="502920" cy="77724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3255263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5F5F5"/>
                </a:solidFill>
              </a:rPr>
              <a:t>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3072383"/>
            <a:ext cx="1097280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3118103"/>
            <a:ext cx="106984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695C"/>
                </a:solidFill>
              </a:rPr>
              <a:t>MMS-LID is Critical for Punjabi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3419855"/>
            <a:ext cx="10698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Whisper and FastText both misidentify Punjabi as Hindi. MMS-LID correctly identifies Punjabi with &gt;0.99 confidence, enabling the pa-override rule.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3959351"/>
            <a:ext cx="502920" cy="77724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4142231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5F5F5"/>
                </a:solidFill>
              </a:rPr>
              <a:t>04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3959351"/>
            <a:ext cx="1097280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4005071"/>
            <a:ext cx="106984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62828"/>
                </a:solidFill>
              </a:rPr>
              <a:t>fp16 Instability at Low LR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4306823"/>
            <a:ext cx="10698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Mandarin training diverged at step ~820 (grad_norm=12.9). Fix: max_grad_norm=0.5 applied to Hindi and all subsequent languages — no recurrence.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4846319"/>
            <a:ext cx="502920" cy="77724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5029199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5F5F5"/>
                </a:solidFill>
              </a:rPr>
              <a:t>05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" y="4846319"/>
            <a:ext cx="1097280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0120" y="4892039"/>
            <a:ext cx="106984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A1B9A"/>
                </a:solidFill>
              </a:rPr>
              <a:t>Script-Cascade Prevents Misidentification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" y="5193791"/>
            <a:ext cx="10698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Arabic-script detection (&gt;20% Nastaliq chars in transcript) catches Urdu even when MMS-LID confidence is below threshold — critical for noisy radio.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5733287"/>
            <a:ext cx="502920" cy="77724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5916167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5F5F5"/>
                </a:solidFill>
              </a:rPr>
              <a:t>06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2960" y="5733287"/>
            <a:ext cx="1097280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0120" y="5779007"/>
            <a:ext cx="106984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62828"/>
                </a:solidFill>
              </a:rPr>
              <a:t>CT2 Tokenizer Bug — All Large-v3 Models Translated Instead of Transcribed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0120" y="6080759"/>
            <a:ext cx="10698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ct2-transformers-converter omits tokenizer.json. Whisper-tiny fallback has transcribe=50359 but large-v3 has translate=50359. Every transcribe call was secretly translate. Fix: copy tokenizer.json from adapter dir into CT2 dir. Now automated in finetune_whisper.py.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41248"/>
            <a:ext cx="12188952" cy="4572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01168"/>
            <a:ext cx="2194560" cy="27432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228600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DEPLOYMENT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55555"/>
                </a:solidFill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943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12121"/>
                </a:solidFill>
              </a:rPr>
              <a:t>Deployment Architecture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70432"/>
            <a:ext cx="11430000" cy="2286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280160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6A1B9A"/>
                </a:solidFill>
              </a:rPr>
              <a:t>Deployed Models (CT2 int8)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691640"/>
            <a:ext cx="54864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691640"/>
            <a:ext cx="45720" cy="36576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746504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whisper-large-v3-pa-ct2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1746504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12121"/>
                </a:solidFill>
              </a:rPr>
              <a:t>Punjabi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1746504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C62828"/>
                </a:solidFill>
              </a:rPr>
              <a:t>61.3%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075688"/>
            <a:ext cx="54864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2075688"/>
            <a:ext cx="45720" cy="36576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130552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whisper-medium-pashto-ct2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39" y="213055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12121"/>
                </a:solidFill>
              </a:rPr>
              <a:t>Pashto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130552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6A1B9A"/>
                </a:solidFill>
              </a:rPr>
              <a:t>38.9%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459736"/>
            <a:ext cx="54864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2459736"/>
            <a:ext cx="45720" cy="36576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251460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whisper-large-v3-ur-ct2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49039" y="251460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12121"/>
                </a:solidFill>
              </a:rPr>
              <a:t>Urdu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2514600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00897B"/>
                </a:solidFill>
              </a:rPr>
              <a:t>22.3%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2843784"/>
            <a:ext cx="54864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65760" y="2843784"/>
            <a:ext cx="45720" cy="36576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289864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whisper-large-v3-ne-ct2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49039" y="289864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12121"/>
                </a:solidFill>
              </a:rPr>
              <a:t>Nepali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40" y="2898648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6A1B9A"/>
                </a:solidFill>
              </a:rPr>
              <a:t>54.3%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3227832"/>
            <a:ext cx="54864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65760" y="3227832"/>
            <a:ext cx="45720" cy="36576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3282696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whisper-large-v3-zh-ct2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49039" y="3282696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12121"/>
                </a:solidFill>
              </a:rPr>
              <a:t>Mandarin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63440" y="3282696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00897B"/>
                </a:solidFill>
              </a:rPr>
              <a:t> 8.97%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3611879"/>
            <a:ext cx="54864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5760" y="3611879"/>
            <a:ext cx="45720" cy="36576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3666744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whisper-large-v3-hi-ct2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749039" y="3666744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12121"/>
                </a:solidFill>
              </a:rPr>
              <a:t>Hindi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63440" y="3666744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00897B"/>
                </a:solidFill>
              </a:rPr>
              <a:t>23.1%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3995928"/>
            <a:ext cx="54864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65760" y="3995928"/>
            <a:ext cx="45720" cy="36576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2920" y="4050791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whisper-large-v3-ks-ct2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749039" y="4050791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12121"/>
                </a:solidFill>
              </a:rPr>
              <a:t>Kashmiri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63440" y="4050791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555555"/>
                </a:solidFill>
              </a:rPr>
              <a:t>N/A†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09360" y="1280160"/>
            <a:ext cx="539496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6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92240" y="138988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6A1B9A"/>
                </a:solidFill>
              </a:rPr>
              <a:t>Runtime Specifications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00800" y="1847088"/>
            <a:ext cx="5212080" cy="36576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92240" y="1901952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Inference engine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503920" y="1901952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12121"/>
                </a:solidFill>
              </a:rPr>
              <a:t>faster-whisper (CT2)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00800" y="2231136"/>
            <a:ext cx="5212080" cy="36576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92240" y="228600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Quantization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503920" y="228600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12121"/>
                </a:solidFill>
              </a:rPr>
              <a:t>int8 (CPU + GPU)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400800" y="2615184"/>
            <a:ext cx="5212080" cy="36576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92240" y="267004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Device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503920" y="2670048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12121"/>
                </a:solidFill>
              </a:rPr>
              <a:t>CUDA (RTX 5060 8 GB)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400800" y="2999232"/>
            <a:ext cx="5212080" cy="36576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92240" y="3054096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Translation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503920" y="3054096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12121"/>
                </a:solidFill>
              </a:rPr>
              <a:t>NLLB-200 distilled 600M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400800" y="3383279"/>
            <a:ext cx="5212080" cy="36576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492240" y="3438144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LangID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503920" y="3438144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12121"/>
                </a:solidFill>
              </a:rPr>
              <a:t>MMS-LID 256-lang + FastText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400800" y="3767328"/>
            <a:ext cx="5212080" cy="36576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492240" y="3822191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ISUM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503920" y="3822191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12121"/>
                </a:solidFill>
              </a:rPr>
              <a:t>Gemma 3:12B via Ollama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400800" y="4151376"/>
            <a:ext cx="5212080" cy="36576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492240" y="420624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Storage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503920" y="420624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12121"/>
                </a:solidFill>
              </a:rPr>
              <a:t>SQLite + JSON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400800" y="4535424"/>
            <a:ext cx="5212080" cy="36576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492240" y="459028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Interface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503920" y="4590288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12121"/>
                </a:solidFill>
              </a:rPr>
              <a:t>Streamlit web UI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400800" y="4919472"/>
            <a:ext cx="5212080" cy="36576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492240" y="4974336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Network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503920" y="4974336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12121"/>
                </a:solidFill>
              </a:rPr>
              <a:t>100% offline — no internet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65760" y="630936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Total deployed model storage: ~10.1 GB   |   Lab upgrade: change device: cuda in config.yaml   |   †Kashmiri: eval_loss metric (no vocab token)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73152" cy="6711696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55555"/>
                </a:solidFill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212121"/>
                </a:solidFill>
              </a:rPr>
              <a:t>Summary &amp; Next Steps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15568"/>
            <a:ext cx="10972800" cy="2286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25880"/>
            <a:ext cx="356616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325880"/>
            <a:ext cx="3566160" cy="54864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444752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897B"/>
                </a:solidFill>
              </a:rPr>
              <a:t>7 Languages Fine-Tuned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856231"/>
            <a:ext cx="3291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pa · ps · ur · ne · zh · hi · ks
All deployed as CT2 int8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6240" y="1325880"/>
            <a:ext cx="356616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06240" y="1325880"/>
            <a:ext cx="3566160" cy="54864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43400" y="1444752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A1B9A"/>
                </a:solidFill>
              </a:rPr>
              <a:t>Best Eval WER: 16.03% (Mandarin)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1856231"/>
            <a:ext cx="3291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Urdu 19.82%  ·  Hindi 19.78%
Beat SeamlessM4T on Pashto &amp; Mandarin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55279" y="1325880"/>
            <a:ext cx="356616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6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55279" y="1325880"/>
            <a:ext cx="3566160" cy="54864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92440" y="1444752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695C"/>
                </a:solidFill>
              </a:rPr>
              <a:t>0.25% Params Trained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2440" y="1856231"/>
            <a:ext cx="3291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LoRA r=8 is sufficient
No full fine-tune needed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971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6A1B9A"/>
                </a:solidFill>
              </a:rPr>
              <a:t>Next Steps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401568"/>
            <a:ext cx="10972800" cy="2286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3547872"/>
            <a:ext cx="112471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3547872"/>
            <a:ext cx="45720" cy="475488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360273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695C"/>
                </a:solidFill>
              </a:rPr>
              <a:t>Kashmiri (ks)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06040" y="3602736"/>
            <a:ext cx="9052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Done — IndicVoices 20k, 1500 steps, eval_loss=0.936; CT2 deployed; qualitative eval with native audio pending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069080"/>
            <a:ext cx="112471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4069080"/>
            <a:ext cx="45720" cy="475488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4123944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695C"/>
                </a:solidFill>
              </a:rPr>
              <a:t>Reduce WER &lt;25%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06040" y="4123944"/>
            <a:ext cx="9052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Target: all 6 main languages below 25% WER — more steps, more data, or SeamlessM4T fine-tune comparison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590288"/>
            <a:ext cx="112471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" y="4590288"/>
            <a:ext cx="45720" cy="475488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464515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695C"/>
                </a:solidFill>
              </a:rPr>
              <a:t>Fine-tune SM4T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06040" y="4645152"/>
            <a:ext cx="9052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Fine-tune SeamlessM4T on same FLEURS data — compare transcription + translation against fine-tuned Whisper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5111496"/>
            <a:ext cx="112471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57200" y="5111496"/>
            <a:ext cx="45720" cy="475488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4360" y="516636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695C"/>
                </a:solidFill>
              </a:rPr>
              <a:t>Robustness Eval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606040" y="5166360"/>
            <a:ext cx="9052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8 audio degradation conditions (bandpass, AWGN 0–20 dB, PTT clip, MP3 codec)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5632704"/>
            <a:ext cx="112471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57200" y="5632704"/>
            <a:ext cx="45720" cy="475488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4360" y="568756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695C"/>
                </a:solidFill>
              </a:rPr>
              <a:t>Paper Submission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606040" y="5687568"/>
            <a:ext cx="9052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VANI paper targeting IJAINN / SLT 2026 — include cross-model eval and SM4T fine-tune comparison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555555"/>
                </a:solidFill>
              </a:rPr>
              <a:t>VANI v2  ·  M.Tech Research  ·  IIT Indore  ·  June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